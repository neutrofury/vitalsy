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ileron Bold" charset="1" panose="00000800000000000000"/>
      <p:regular r:id="rId19"/>
    </p:embeddedFont>
    <p:embeddedFont>
      <p:font typeface="Heading Now 61-68 Bold" charset="1" panose="00000000000000000000"/>
      <p:regular r:id="rId20"/>
    </p:embeddedFont>
    <p:embeddedFont>
      <p:font typeface="Heading Now 31-38 Bold" charset="1" panose="00000000000000000000"/>
      <p:regular r:id="rId21"/>
    </p:embeddedFont>
    <p:embeddedFont>
      <p:font typeface="Aileron" charset="1" panose="00000500000000000000"/>
      <p:regular r:id="rId22"/>
    </p:embeddedFont>
    <p:embeddedFont>
      <p:font typeface="Heading Now 31-38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19.png" Type="http://schemas.openxmlformats.org/officeDocument/2006/relationships/image"/><Relationship Id="rId18" Target="../media/image20.svg" Type="http://schemas.openxmlformats.org/officeDocument/2006/relationships/image"/><Relationship Id="rId19" Target="../media/image21.png" Type="http://schemas.openxmlformats.org/officeDocument/2006/relationships/image"/><Relationship Id="rId2" Target="../media/image1.jpeg" Type="http://schemas.openxmlformats.org/officeDocument/2006/relationships/image"/><Relationship Id="rId20" Target="../media/image22.svg" Type="http://schemas.openxmlformats.org/officeDocument/2006/relationships/image"/><Relationship Id="rId21" Target="../media/image3.png" Type="http://schemas.openxmlformats.org/officeDocument/2006/relationships/image"/><Relationship Id="rId2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4.png" Type="http://schemas.openxmlformats.org/officeDocument/2006/relationships/image"/><Relationship Id="rId4" Target="../media/image24.jpe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3.png" Type="http://schemas.openxmlformats.org/officeDocument/2006/relationships/image"/><Relationship Id="rId14" Target="../media/image4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17" Target="../media/image43.pn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45.jpeg" Type="http://schemas.openxmlformats.org/officeDocument/2006/relationships/image"/><Relationship Id="rId6" Target="../media/VAHNRYiBQCM.mp4" Type="http://schemas.openxmlformats.org/officeDocument/2006/relationships/video"/><Relationship Id="rId7" Target="../media/VAHNRYiBQCM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952104" cy="10287000"/>
            <a:chOff x="0" y="0"/>
            <a:chExt cx="10602806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348" t="0" r="28348" b="0"/>
            <a:stretch>
              <a:fillRect/>
            </a:stretch>
          </p:blipFill>
          <p:spPr>
            <a:xfrm flipH="false" flipV="false">
              <a:off x="0" y="0"/>
              <a:ext cx="10602806" cy="13716000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329679" y="375739"/>
            <a:ext cx="2571591" cy="888002"/>
          </a:xfrm>
          <a:custGeom>
            <a:avLst/>
            <a:gdLst/>
            <a:ahLst/>
            <a:cxnLst/>
            <a:rect r="r" b="b" t="t" l="l"/>
            <a:pathLst>
              <a:path h="888002" w="2571591">
                <a:moveTo>
                  <a:pt x="0" y="0"/>
                </a:moveTo>
                <a:lnTo>
                  <a:pt x="2571591" y="0"/>
                </a:lnTo>
                <a:lnTo>
                  <a:pt x="2571591" y="888002"/>
                </a:lnTo>
                <a:lnTo>
                  <a:pt x="0" y="888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63822" y="479947"/>
            <a:ext cx="2764419" cy="679586"/>
          </a:xfrm>
          <a:custGeom>
            <a:avLst/>
            <a:gdLst/>
            <a:ahLst/>
            <a:cxnLst/>
            <a:rect r="r" b="b" t="t" l="l"/>
            <a:pathLst>
              <a:path h="679586" w="2764419">
                <a:moveTo>
                  <a:pt x="0" y="0"/>
                </a:moveTo>
                <a:lnTo>
                  <a:pt x="2764419" y="0"/>
                </a:lnTo>
                <a:lnTo>
                  <a:pt x="2764419" y="679586"/>
                </a:lnTo>
                <a:lnTo>
                  <a:pt x="0" y="679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77724" y="8690072"/>
            <a:ext cx="1993606" cy="34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2"/>
              </a:lnSpc>
              <a:spcBef>
                <a:spcPct val="0"/>
              </a:spcBef>
            </a:pPr>
            <a:r>
              <a:rPr lang="en-US" b="true" sz="1930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Equipo: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7724" y="9016657"/>
            <a:ext cx="2173031" cy="76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90" spc="17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JOAQUÍN SANTANA</a:t>
            </a:r>
          </a:p>
          <a:p>
            <a:pPr algn="l">
              <a:lnSpc>
                <a:spcPts val="2086"/>
              </a:lnSpc>
            </a:pPr>
            <a:r>
              <a:rPr lang="en-US" b="true" sz="1490" spc="17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GABRIEL NERCELLES</a:t>
            </a:r>
          </a:p>
          <a:p>
            <a:pPr algn="l" marL="0" indent="0" lvl="0">
              <a:lnSpc>
                <a:spcPts val="2086"/>
              </a:lnSpc>
              <a:spcBef>
                <a:spcPct val="0"/>
              </a:spcBef>
            </a:pPr>
            <a:r>
              <a:rPr lang="en-US" b="true" sz="1490" spc="17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GABRIEL HERNÁNDEZ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33746" y="2664361"/>
            <a:ext cx="9339808" cy="137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</a:pPr>
            <a:r>
              <a:rPr lang="en-US" sz="7030" b="true">
                <a:solidFill>
                  <a:srgbClr val="051F20"/>
                </a:solidFill>
                <a:latin typeface="Heading Now 61-68 Bold"/>
                <a:ea typeface="Heading Now 61-68 Bold"/>
                <a:cs typeface="Heading Now 61-68 Bold"/>
                <a:sym typeface="Heading Now 61-68 Bold"/>
              </a:rPr>
              <a:t>PROYECTO DE TITULO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77047" y="2512403"/>
            <a:ext cx="5853205" cy="441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37"/>
              </a:lnSpc>
            </a:pPr>
            <a:r>
              <a:rPr lang="en-US" sz="22526" b="true">
                <a:solidFill>
                  <a:srgbClr val="051F2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VITALSY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55605" y="8690072"/>
            <a:ext cx="1597803" cy="34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2"/>
              </a:lnSpc>
              <a:spcBef>
                <a:spcPct val="0"/>
              </a:spcBef>
            </a:pPr>
            <a:r>
              <a:rPr lang="en-US" b="true" sz="1930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Docente: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5605" y="9012488"/>
            <a:ext cx="2096090" cy="24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6"/>
              </a:lnSpc>
              <a:spcBef>
                <a:spcPct val="0"/>
              </a:spcBef>
            </a:pPr>
            <a:r>
              <a:rPr lang="en-US" b="true" sz="1490" spc="17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ARTURO VARGAS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56545" y="8692157"/>
            <a:ext cx="1993606" cy="34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2"/>
              </a:lnSpc>
              <a:spcBef>
                <a:spcPct val="0"/>
              </a:spcBef>
            </a:pPr>
            <a:r>
              <a:rPr lang="en-US" b="true" sz="1930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Cliente: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56545" y="9018741"/>
            <a:ext cx="2173031" cy="24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6"/>
              </a:lnSpc>
              <a:spcBef>
                <a:spcPct val="0"/>
              </a:spcBef>
            </a:pPr>
            <a:r>
              <a:rPr lang="en-US" b="true" sz="1490" spc="17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CRISTIAN GOMEZ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2469"/>
            <a:ext cx="18288000" cy="10274531"/>
          </a:xfrm>
          <a:custGeom>
            <a:avLst/>
            <a:gdLst/>
            <a:ahLst/>
            <a:cxnLst/>
            <a:rect r="r" b="b" t="t" l="l"/>
            <a:pathLst>
              <a:path h="10274531" w="18288000">
                <a:moveTo>
                  <a:pt x="0" y="0"/>
                </a:moveTo>
                <a:lnTo>
                  <a:pt x="18288000" y="0"/>
                </a:lnTo>
                <a:lnTo>
                  <a:pt x="18288000" y="10274531"/>
                </a:lnTo>
                <a:lnTo>
                  <a:pt x="0" y="1027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75653" y="1133475"/>
            <a:ext cx="9536695" cy="356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99"/>
              </a:lnSpc>
            </a:pPr>
            <a:r>
              <a:rPr lang="en-US" b="true" sz="14022">
                <a:solidFill>
                  <a:srgbClr val="051F2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SOBRE NUESTRO EQUIPO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05856" y="5304704"/>
            <a:ext cx="3453526" cy="893496"/>
            <a:chOff x="0" y="0"/>
            <a:chExt cx="812800" cy="210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10288"/>
            </a:xfrm>
            <a:custGeom>
              <a:avLst/>
              <a:gdLst/>
              <a:ahLst/>
              <a:cxnLst/>
              <a:rect r="r" b="b" t="t" l="l"/>
              <a:pathLst>
                <a:path h="210288" w="812800">
                  <a:moveTo>
                    <a:pt x="105144" y="0"/>
                  </a:moveTo>
                  <a:lnTo>
                    <a:pt x="707656" y="0"/>
                  </a:lnTo>
                  <a:cubicBezTo>
                    <a:pt x="735542" y="0"/>
                    <a:pt x="762286" y="11078"/>
                    <a:pt x="782004" y="30796"/>
                  </a:cubicBezTo>
                  <a:cubicBezTo>
                    <a:pt x="801722" y="50514"/>
                    <a:pt x="812800" y="77258"/>
                    <a:pt x="812800" y="105144"/>
                  </a:cubicBezTo>
                  <a:lnTo>
                    <a:pt x="812800" y="105144"/>
                  </a:lnTo>
                  <a:cubicBezTo>
                    <a:pt x="812800" y="163213"/>
                    <a:pt x="765726" y="210288"/>
                    <a:pt x="707656" y="210288"/>
                  </a:cubicBezTo>
                  <a:lnTo>
                    <a:pt x="105144" y="210288"/>
                  </a:lnTo>
                  <a:cubicBezTo>
                    <a:pt x="77258" y="210288"/>
                    <a:pt x="50514" y="199210"/>
                    <a:pt x="30796" y="179492"/>
                  </a:cubicBezTo>
                  <a:cubicBezTo>
                    <a:pt x="11078" y="159773"/>
                    <a:pt x="0" y="133030"/>
                    <a:pt x="0" y="105144"/>
                  </a:cubicBezTo>
                  <a:lnTo>
                    <a:pt x="0" y="105144"/>
                  </a:lnTo>
                  <a:cubicBezTo>
                    <a:pt x="0" y="77258"/>
                    <a:pt x="11078" y="50514"/>
                    <a:pt x="30796" y="30796"/>
                  </a:cubicBezTo>
                  <a:cubicBezTo>
                    <a:pt x="50514" y="11078"/>
                    <a:pt x="77258" y="0"/>
                    <a:pt x="105144" y="0"/>
                  </a:cubicBezTo>
                  <a:close/>
                </a:path>
              </a:pathLst>
            </a:custGeom>
            <a:solidFill>
              <a:srgbClr val="8EB69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248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645852" y="5445148"/>
            <a:ext cx="3173532" cy="49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7"/>
              </a:lnSpc>
            </a:pPr>
            <a:r>
              <a:rPr lang="en-US" b="true" sz="2532" spc="30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JOAQUÍN SANTANA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060241" y="5304461"/>
            <a:ext cx="3721242" cy="893496"/>
            <a:chOff x="0" y="0"/>
            <a:chExt cx="4961656" cy="11913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61656" cy="1191328"/>
              <a:chOff x="0" y="0"/>
              <a:chExt cx="875808" cy="21028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75808" cy="210288"/>
              </a:xfrm>
              <a:custGeom>
                <a:avLst/>
                <a:gdLst/>
                <a:ahLst/>
                <a:cxnLst/>
                <a:rect r="r" b="b" t="t" l="l"/>
                <a:pathLst>
                  <a:path h="210288" w="875808">
                    <a:moveTo>
                      <a:pt x="105144" y="0"/>
                    </a:moveTo>
                    <a:lnTo>
                      <a:pt x="770664" y="0"/>
                    </a:lnTo>
                    <a:cubicBezTo>
                      <a:pt x="798550" y="0"/>
                      <a:pt x="825294" y="11078"/>
                      <a:pt x="845012" y="30796"/>
                    </a:cubicBezTo>
                    <a:cubicBezTo>
                      <a:pt x="864730" y="50514"/>
                      <a:pt x="875808" y="77258"/>
                      <a:pt x="875808" y="105144"/>
                    </a:cubicBezTo>
                    <a:lnTo>
                      <a:pt x="875808" y="105144"/>
                    </a:lnTo>
                    <a:cubicBezTo>
                      <a:pt x="875808" y="133030"/>
                      <a:pt x="864730" y="159773"/>
                      <a:pt x="845012" y="179492"/>
                    </a:cubicBezTo>
                    <a:cubicBezTo>
                      <a:pt x="825294" y="199210"/>
                      <a:pt x="798550" y="210288"/>
                      <a:pt x="770664" y="210288"/>
                    </a:cubicBezTo>
                    <a:lnTo>
                      <a:pt x="105144" y="210288"/>
                    </a:lnTo>
                    <a:cubicBezTo>
                      <a:pt x="77258" y="210288"/>
                      <a:pt x="50514" y="199210"/>
                      <a:pt x="30796" y="179492"/>
                    </a:cubicBezTo>
                    <a:cubicBezTo>
                      <a:pt x="11078" y="159773"/>
                      <a:pt x="0" y="133030"/>
                      <a:pt x="0" y="105144"/>
                    </a:cubicBezTo>
                    <a:lnTo>
                      <a:pt x="0" y="105144"/>
                    </a:lnTo>
                    <a:cubicBezTo>
                      <a:pt x="0" y="77258"/>
                      <a:pt x="11078" y="50514"/>
                      <a:pt x="30796" y="30796"/>
                    </a:cubicBezTo>
                    <a:cubicBezTo>
                      <a:pt x="50514" y="11078"/>
                      <a:pt x="77258" y="0"/>
                      <a:pt x="105144" y="0"/>
                    </a:cubicBezTo>
                    <a:close/>
                  </a:path>
                </a:pathLst>
              </a:custGeom>
              <a:solidFill>
                <a:srgbClr val="8EB69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75808" cy="248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61777" y="225359"/>
              <a:ext cx="4521401" cy="626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7"/>
                </a:lnSpc>
              </a:pPr>
              <a:r>
                <a:rPr lang="en-US" b="true" sz="2532" spc="30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GABRIEL NERCELLES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53033" y="5304461"/>
            <a:ext cx="4005689" cy="893496"/>
            <a:chOff x="0" y="0"/>
            <a:chExt cx="5340919" cy="119132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340919" cy="1191328"/>
              <a:chOff x="0" y="0"/>
              <a:chExt cx="942754" cy="21028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42754" cy="210288"/>
              </a:xfrm>
              <a:custGeom>
                <a:avLst/>
                <a:gdLst/>
                <a:ahLst/>
                <a:cxnLst/>
                <a:rect r="r" b="b" t="t" l="l"/>
                <a:pathLst>
                  <a:path h="210288" w="942754">
                    <a:moveTo>
                      <a:pt x="105144" y="0"/>
                    </a:moveTo>
                    <a:lnTo>
                      <a:pt x="837610" y="0"/>
                    </a:lnTo>
                    <a:cubicBezTo>
                      <a:pt x="895679" y="0"/>
                      <a:pt x="942754" y="47074"/>
                      <a:pt x="942754" y="105144"/>
                    </a:cubicBezTo>
                    <a:lnTo>
                      <a:pt x="942754" y="105144"/>
                    </a:lnTo>
                    <a:cubicBezTo>
                      <a:pt x="942754" y="133030"/>
                      <a:pt x="931676" y="159773"/>
                      <a:pt x="911958" y="179492"/>
                    </a:cubicBezTo>
                    <a:cubicBezTo>
                      <a:pt x="892240" y="199210"/>
                      <a:pt x="865496" y="210288"/>
                      <a:pt x="837610" y="210288"/>
                    </a:cubicBezTo>
                    <a:lnTo>
                      <a:pt x="105144" y="210288"/>
                    </a:lnTo>
                    <a:cubicBezTo>
                      <a:pt x="77258" y="210288"/>
                      <a:pt x="50514" y="199210"/>
                      <a:pt x="30796" y="179492"/>
                    </a:cubicBezTo>
                    <a:cubicBezTo>
                      <a:pt x="11078" y="159773"/>
                      <a:pt x="0" y="133030"/>
                      <a:pt x="0" y="105144"/>
                    </a:cubicBezTo>
                    <a:lnTo>
                      <a:pt x="0" y="105144"/>
                    </a:lnTo>
                    <a:cubicBezTo>
                      <a:pt x="0" y="77258"/>
                      <a:pt x="11078" y="50514"/>
                      <a:pt x="30796" y="30796"/>
                    </a:cubicBezTo>
                    <a:cubicBezTo>
                      <a:pt x="50514" y="11078"/>
                      <a:pt x="77258" y="0"/>
                      <a:pt x="105144" y="0"/>
                    </a:cubicBezTo>
                    <a:close/>
                  </a:path>
                </a:pathLst>
              </a:custGeom>
              <a:solidFill>
                <a:srgbClr val="8EB69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42754" cy="248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81787" y="225359"/>
              <a:ext cx="4867013" cy="626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7"/>
                </a:lnSpc>
              </a:pPr>
              <a:r>
                <a:rPr lang="en-US" b="true" sz="2532" spc="30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GABRIEL HERNANDEZ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14495" y="6479182"/>
            <a:ext cx="3778822" cy="1775555"/>
            <a:chOff x="0" y="0"/>
            <a:chExt cx="889359" cy="4178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9359" cy="417883"/>
            </a:xfrm>
            <a:custGeom>
              <a:avLst/>
              <a:gdLst/>
              <a:ahLst/>
              <a:cxnLst/>
              <a:rect r="r" b="b" t="t" l="l"/>
              <a:pathLst>
                <a:path h="417883" w="889359">
                  <a:moveTo>
                    <a:pt x="49170" y="0"/>
                  </a:moveTo>
                  <a:lnTo>
                    <a:pt x="840189" y="0"/>
                  </a:lnTo>
                  <a:cubicBezTo>
                    <a:pt x="867345" y="0"/>
                    <a:pt x="889359" y="22014"/>
                    <a:pt x="889359" y="49170"/>
                  </a:cubicBezTo>
                  <a:lnTo>
                    <a:pt x="889359" y="368713"/>
                  </a:lnTo>
                  <a:cubicBezTo>
                    <a:pt x="889359" y="381754"/>
                    <a:pt x="884179" y="394260"/>
                    <a:pt x="874958" y="403482"/>
                  </a:cubicBezTo>
                  <a:cubicBezTo>
                    <a:pt x="865737" y="412703"/>
                    <a:pt x="853230" y="417883"/>
                    <a:pt x="840189" y="417883"/>
                  </a:cubicBezTo>
                  <a:lnTo>
                    <a:pt x="49170" y="417883"/>
                  </a:lnTo>
                  <a:cubicBezTo>
                    <a:pt x="22014" y="417883"/>
                    <a:pt x="0" y="395869"/>
                    <a:pt x="0" y="368713"/>
                  </a:cubicBezTo>
                  <a:lnTo>
                    <a:pt x="0" y="49170"/>
                  </a:lnTo>
                  <a:cubicBezTo>
                    <a:pt x="0" y="36130"/>
                    <a:pt x="5180" y="23623"/>
                    <a:pt x="14402" y="14402"/>
                  </a:cubicBezTo>
                  <a:cubicBezTo>
                    <a:pt x="23623" y="5180"/>
                    <a:pt x="36130" y="0"/>
                    <a:pt x="49170" y="0"/>
                  </a:cubicBezTo>
                  <a:close/>
                </a:path>
              </a:pathLst>
            </a:custGeom>
            <a:solidFill>
              <a:srgbClr val="8EB69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89359" cy="455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60241" y="6478939"/>
            <a:ext cx="3721242" cy="1775555"/>
            <a:chOff x="0" y="0"/>
            <a:chExt cx="875808" cy="4178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5808" cy="417883"/>
            </a:xfrm>
            <a:custGeom>
              <a:avLst/>
              <a:gdLst/>
              <a:ahLst/>
              <a:cxnLst/>
              <a:rect r="r" b="b" t="t" l="l"/>
              <a:pathLst>
                <a:path h="417883" w="875808">
                  <a:moveTo>
                    <a:pt x="49931" y="0"/>
                  </a:moveTo>
                  <a:lnTo>
                    <a:pt x="825877" y="0"/>
                  </a:lnTo>
                  <a:cubicBezTo>
                    <a:pt x="839119" y="0"/>
                    <a:pt x="851819" y="5261"/>
                    <a:pt x="861183" y="14625"/>
                  </a:cubicBezTo>
                  <a:cubicBezTo>
                    <a:pt x="870547" y="23988"/>
                    <a:pt x="875808" y="36689"/>
                    <a:pt x="875808" y="49931"/>
                  </a:cubicBezTo>
                  <a:lnTo>
                    <a:pt x="875808" y="367952"/>
                  </a:lnTo>
                  <a:cubicBezTo>
                    <a:pt x="875808" y="381195"/>
                    <a:pt x="870547" y="393895"/>
                    <a:pt x="861183" y="403259"/>
                  </a:cubicBezTo>
                  <a:cubicBezTo>
                    <a:pt x="851819" y="412623"/>
                    <a:pt x="839119" y="417883"/>
                    <a:pt x="825877" y="417883"/>
                  </a:cubicBezTo>
                  <a:lnTo>
                    <a:pt x="49931" y="417883"/>
                  </a:lnTo>
                  <a:cubicBezTo>
                    <a:pt x="36689" y="417883"/>
                    <a:pt x="23988" y="412623"/>
                    <a:pt x="14625" y="403259"/>
                  </a:cubicBezTo>
                  <a:cubicBezTo>
                    <a:pt x="5261" y="393895"/>
                    <a:pt x="0" y="381195"/>
                    <a:pt x="0" y="367952"/>
                  </a:cubicBezTo>
                  <a:lnTo>
                    <a:pt x="0" y="49931"/>
                  </a:lnTo>
                  <a:cubicBezTo>
                    <a:pt x="0" y="36689"/>
                    <a:pt x="5261" y="23988"/>
                    <a:pt x="14625" y="14625"/>
                  </a:cubicBezTo>
                  <a:cubicBezTo>
                    <a:pt x="23988" y="5261"/>
                    <a:pt x="36689" y="0"/>
                    <a:pt x="49931" y="0"/>
                  </a:cubicBezTo>
                  <a:close/>
                </a:path>
              </a:pathLst>
            </a:custGeom>
            <a:solidFill>
              <a:srgbClr val="8EB69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75808" cy="455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53033" y="6478939"/>
            <a:ext cx="4005689" cy="1775555"/>
            <a:chOff x="0" y="0"/>
            <a:chExt cx="942754" cy="4178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2754" cy="417883"/>
            </a:xfrm>
            <a:custGeom>
              <a:avLst/>
              <a:gdLst/>
              <a:ahLst/>
              <a:cxnLst/>
              <a:rect r="r" b="b" t="t" l="l"/>
              <a:pathLst>
                <a:path h="417883" w="942754">
                  <a:moveTo>
                    <a:pt x="46386" y="0"/>
                  </a:moveTo>
                  <a:lnTo>
                    <a:pt x="896368" y="0"/>
                  </a:lnTo>
                  <a:cubicBezTo>
                    <a:pt x="921986" y="0"/>
                    <a:pt x="942754" y="20768"/>
                    <a:pt x="942754" y="46386"/>
                  </a:cubicBezTo>
                  <a:lnTo>
                    <a:pt x="942754" y="371498"/>
                  </a:lnTo>
                  <a:cubicBezTo>
                    <a:pt x="942754" y="397116"/>
                    <a:pt x="921986" y="417883"/>
                    <a:pt x="896368" y="417883"/>
                  </a:cubicBezTo>
                  <a:lnTo>
                    <a:pt x="46386" y="417883"/>
                  </a:lnTo>
                  <a:cubicBezTo>
                    <a:pt x="20768" y="417883"/>
                    <a:pt x="0" y="397116"/>
                    <a:pt x="0" y="371498"/>
                  </a:cubicBezTo>
                  <a:lnTo>
                    <a:pt x="0" y="46386"/>
                  </a:lnTo>
                  <a:cubicBezTo>
                    <a:pt x="0" y="20768"/>
                    <a:pt x="20768" y="0"/>
                    <a:pt x="46386" y="0"/>
                  </a:cubicBezTo>
                  <a:close/>
                </a:path>
              </a:pathLst>
            </a:custGeom>
            <a:solidFill>
              <a:srgbClr val="8EB69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42754" cy="455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645852" y="6460752"/>
            <a:ext cx="3173532" cy="171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545" indent="-225772" lvl="1">
              <a:lnSpc>
                <a:spcPts val="3409"/>
              </a:lnSpc>
              <a:buFont typeface="Arial"/>
              <a:buChar char="•"/>
            </a:pPr>
            <a:r>
              <a:rPr lang="en-US" b="true" sz="2091" spc="25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DESARROLLADOR FULLSTACK</a:t>
            </a:r>
          </a:p>
          <a:p>
            <a:pPr algn="l" marL="451545" indent="-225772" lvl="1">
              <a:lnSpc>
                <a:spcPts val="3597"/>
              </a:lnSpc>
              <a:buFont typeface="Arial"/>
              <a:buChar char="•"/>
            </a:pPr>
            <a:r>
              <a:rPr lang="en-US" b="true" sz="2091" spc="25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ANALISTA PROGRAMADOR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72136" y="6684349"/>
            <a:ext cx="3173532" cy="126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545" indent="-225772" lvl="1">
              <a:lnSpc>
                <a:spcPts val="3409"/>
              </a:lnSpc>
              <a:buFont typeface="Arial"/>
              <a:buChar char="•"/>
            </a:pPr>
            <a:r>
              <a:rPr lang="en-US" b="true" sz="2091" spc="25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DESARROLLADOR FULLSTACK</a:t>
            </a:r>
          </a:p>
          <a:p>
            <a:pPr algn="l" marL="451545" indent="-225772" lvl="1">
              <a:lnSpc>
                <a:spcPts val="3597"/>
              </a:lnSpc>
              <a:buFont typeface="Arial"/>
              <a:buChar char="•"/>
            </a:pPr>
            <a:r>
              <a:rPr lang="en-US" b="true" sz="2091" spc="25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ANALISTA QA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69111" y="6684349"/>
            <a:ext cx="3173532" cy="126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545" indent="-225772" lvl="1">
              <a:lnSpc>
                <a:spcPts val="3409"/>
              </a:lnSpc>
              <a:buFont typeface="Arial"/>
              <a:buChar char="•"/>
            </a:pPr>
            <a:r>
              <a:rPr lang="en-US" b="true" sz="2091" spc="25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DESARROLLADOR FULLSTACK</a:t>
            </a:r>
          </a:p>
          <a:p>
            <a:pPr algn="l" marL="451545" indent="-225772" lvl="1">
              <a:lnSpc>
                <a:spcPts val="3597"/>
              </a:lnSpc>
              <a:buFont typeface="Arial"/>
              <a:buChar char="•"/>
            </a:pPr>
            <a:r>
              <a:rPr lang="en-US" b="true" sz="2091" spc="25">
                <a:solidFill>
                  <a:srgbClr val="051F20"/>
                </a:solidFill>
                <a:latin typeface="Aileron Bold"/>
                <a:ea typeface="Aileron Bold"/>
                <a:cs typeface="Aileron Bold"/>
                <a:sym typeface="Aileron Bold"/>
              </a:rPr>
              <a:t>JEFE DE PROYECTO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28700" y="1028700"/>
            <a:ext cx="2571591" cy="888002"/>
          </a:xfrm>
          <a:custGeom>
            <a:avLst/>
            <a:gdLst/>
            <a:ahLst/>
            <a:cxnLst/>
            <a:rect r="r" b="b" t="t" l="l"/>
            <a:pathLst>
              <a:path h="888002" w="2571591">
                <a:moveTo>
                  <a:pt x="0" y="0"/>
                </a:moveTo>
                <a:lnTo>
                  <a:pt x="2571591" y="0"/>
                </a:lnTo>
                <a:lnTo>
                  <a:pt x="2571591" y="888002"/>
                </a:lnTo>
                <a:lnTo>
                  <a:pt x="0" y="8880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494881" y="1046374"/>
            <a:ext cx="2764419" cy="679586"/>
          </a:xfrm>
          <a:custGeom>
            <a:avLst/>
            <a:gdLst/>
            <a:ahLst/>
            <a:cxnLst/>
            <a:rect r="r" b="b" t="t" l="l"/>
            <a:pathLst>
              <a:path h="679586" w="2764419">
                <a:moveTo>
                  <a:pt x="0" y="0"/>
                </a:moveTo>
                <a:lnTo>
                  <a:pt x="2764419" y="0"/>
                </a:lnTo>
                <a:lnTo>
                  <a:pt x="2764419" y="679586"/>
                </a:lnTo>
                <a:lnTo>
                  <a:pt x="0" y="679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2469"/>
            <a:ext cx="18288000" cy="10274531"/>
          </a:xfrm>
          <a:custGeom>
            <a:avLst/>
            <a:gdLst/>
            <a:ahLst/>
            <a:cxnLst/>
            <a:rect r="r" b="b" t="t" l="l"/>
            <a:pathLst>
              <a:path h="10274531" w="18288000">
                <a:moveTo>
                  <a:pt x="0" y="0"/>
                </a:moveTo>
                <a:lnTo>
                  <a:pt x="18288000" y="0"/>
                </a:lnTo>
                <a:lnTo>
                  <a:pt x="18288000" y="10274531"/>
                </a:lnTo>
                <a:lnTo>
                  <a:pt x="0" y="1027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4500" y="4639528"/>
            <a:ext cx="5464735" cy="601472"/>
            <a:chOff x="0" y="0"/>
            <a:chExt cx="7286314" cy="8019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1963" cy="801963"/>
            </a:xfrm>
            <a:custGeom>
              <a:avLst/>
              <a:gdLst/>
              <a:ahLst/>
              <a:cxnLst/>
              <a:rect r="r" b="b" t="t" l="l"/>
              <a:pathLst>
                <a:path h="801963" w="801963">
                  <a:moveTo>
                    <a:pt x="0" y="0"/>
                  </a:moveTo>
                  <a:lnTo>
                    <a:pt x="801963" y="0"/>
                  </a:lnTo>
                  <a:lnTo>
                    <a:pt x="801963" y="801963"/>
                  </a:lnTo>
                  <a:lnTo>
                    <a:pt x="0" y="801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918968" y="-59364"/>
              <a:ext cx="6367346" cy="787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72"/>
                </a:lnSpc>
              </a:pPr>
              <a:r>
                <a:rPr lang="en-US" b="true" sz="3234" spc="38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CONTEXTUALIZACIÓN.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500" y="5491015"/>
            <a:ext cx="7255534" cy="605768"/>
            <a:chOff x="0" y="0"/>
            <a:chExt cx="9674045" cy="807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1963" cy="807691"/>
            </a:xfrm>
            <a:custGeom>
              <a:avLst/>
              <a:gdLst/>
              <a:ahLst/>
              <a:cxnLst/>
              <a:rect r="r" b="b" t="t" l="l"/>
              <a:pathLst>
                <a:path h="807691" w="801963">
                  <a:moveTo>
                    <a:pt x="0" y="0"/>
                  </a:moveTo>
                  <a:lnTo>
                    <a:pt x="801963" y="0"/>
                  </a:lnTo>
                  <a:lnTo>
                    <a:pt x="801963" y="807691"/>
                  </a:lnTo>
                  <a:lnTo>
                    <a:pt x="0" y="807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9950" t="-9748" r="-9874" b="-922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18968" y="-70043"/>
              <a:ext cx="8755077" cy="804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65"/>
                </a:lnSpc>
              </a:pPr>
              <a:r>
                <a:rPr lang="en-US" b="true" sz="3291" spc="39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PROBLEMATICA INDETIFICADA.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68037" y="7180105"/>
            <a:ext cx="8185463" cy="600075"/>
            <a:chOff x="0" y="0"/>
            <a:chExt cx="10913950" cy="800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055915" y="-9964"/>
              <a:ext cx="9858035" cy="786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75"/>
                </a:lnSpc>
              </a:pPr>
              <a:r>
                <a:rPr lang="en-US" b="true" sz="3236" spc="38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DEMOSTRACIÓN DEL PROYECTO.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276330" y="66675"/>
            <a:ext cx="7735341" cy="431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4"/>
              </a:lnSpc>
            </a:pPr>
            <a:r>
              <a:rPr lang="en-US" sz="22003" b="true">
                <a:solidFill>
                  <a:srgbClr val="051F2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CONTENIDO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34500" y="6344433"/>
            <a:ext cx="5152888" cy="594074"/>
            <a:chOff x="0" y="0"/>
            <a:chExt cx="6870517" cy="7920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0100" cy="792099"/>
            </a:xfrm>
            <a:custGeom>
              <a:avLst/>
              <a:gdLst/>
              <a:ahLst/>
              <a:cxnLst/>
              <a:rect r="r" b="b" t="t" l="l"/>
              <a:pathLst>
                <a:path h="792099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792099"/>
                  </a:lnTo>
                  <a:lnTo>
                    <a:pt x="0" y="792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-10685" t="-9785" r="-8013" b="-101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918968" y="-77897"/>
              <a:ext cx="5951549" cy="805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62"/>
                </a:lnSpc>
              </a:pPr>
              <a:r>
                <a:rPr lang="en-US" b="true" sz="3290" spc="39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NUESTRA SOLUCIÓN.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68037" y="4639528"/>
            <a:ext cx="6503881" cy="597477"/>
            <a:chOff x="0" y="0"/>
            <a:chExt cx="8671841" cy="7966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0100" cy="796636"/>
            </a:xfrm>
            <a:custGeom>
              <a:avLst/>
              <a:gdLst/>
              <a:ahLst/>
              <a:cxnLst/>
              <a:rect r="r" b="b" t="t" l="l"/>
              <a:pathLst>
                <a:path h="796636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796636"/>
                  </a:lnTo>
                  <a:lnTo>
                    <a:pt x="0" y="796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-9570" t="-9381" r="-9563" b="-102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918968" y="-76557"/>
              <a:ext cx="7752873" cy="805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62"/>
                </a:lnSpc>
              </a:pPr>
              <a:r>
                <a:rPr lang="en-US" b="true" sz="3290" spc="39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TECNOLOGÍAS UTILIZADAS.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68037" y="5484655"/>
            <a:ext cx="6813144" cy="600075"/>
            <a:chOff x="0" y="0"/>
            <a:chExt cx="9084192" cy="800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918968" y="-73897"/>
              <a:ext cx="8165224" cy="805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62"/>
                </a:lnSpc>
              </a:pPr>
              <a:r>
                <a:rPr lang="en-US" b="true" sz="3290" spc="39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ARQUITECTURA.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868037" y="6332380"/>
            <a:ext cx="7952536" cy="600075"/>
            <a:chOff x="0" y="0"/>
            <a:chExt cx="10603381" cy="800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968" y="-64008"/>
              <a:ext cx="9684413" cy="794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79"/>
                </a:lnSpc>
              </a:pPr>
              <a:r>
                <a:rPr lang="en-US" b="true" sz="3300" spc="39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DIAGRAMA DE MODELO DE DATOS.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4500" y="7186157"/>
            <a:ext cx="6339713" cy="600075"/>
            <a:chOff x="0" y="0"/>
            <a:chExt cx="8452951" cy="800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917105" y="-59968"/>
              <a:ext cx="7535846" cy="786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75"/>
                </a:lnSpc>
              </a:pPr>
              <a:r>
                <a:rPr lang="en-US" b="true" sz="3236" spc="38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ALCANCES DEL PROYECTO.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5276330" y="4005294"/>
            <a:ext cx="77353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5276330" y="1453651"/>
            <a:ext cx="77353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28700" y="1028700"/>
            <a:ext cx="2571591" cy="888002"/>
          </a:xfrm>
          <a:custGeom>
            <a:avLst/>
            <a:gdLst/>
            <a:ahLst/>
            <a:cxnLst/>
            <a:rect r="r" b="b" t="t" l="l"/>
            <a:pathLst>
              <a:path h="888002" w="2571591">
                <a:moveTo>
                  <a:pt x="0" y="0"/>
                </a:moveTo>
                <a:lnTo>
                  <a:pt x="2571591" y="0"/>
                </a:lnTo>
                <a:lnTo>
                  <a:pt x="2571591" y="888002"/>
                </a:lnTo>
                <a:lnTo>
                  <a:pt x="0" y="88800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494881" y="1046374"/>
            <a:ext cx="2764419" cy="679586"/>
          </a:xfrm>
          <a:custGeom>
            <a:avLst/>
            <a:gdLst/>
            <a:ahLst/>
            <a:cxnLst/>
            <a:rect r="r" b="b" t="t" l="l"/>
            <a:pathLst>
              <a:path h="679586" w="2764419">
                <a:moveTo>
                  <a:pt x="0" y="0"/>
                </a:moveTo>
                <a:lnTo>
                  <a:pt x="2764419" y="0"/>
                </a:lnTo>
                <a:lnTo>
                  <a:pt x="2764419" y="679586"/>
                </a:lnTo>
                <a:lnTo>
                  <a:pt x="0" y="67958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63822" y="479947"/>
            <a:ext cx="2764419" cy="679586"/>
          </a:xfrm>
          <a:custGeom>
            <a:avLst/>
            <a:gdLst/>
            <a:ahLst/>
            <a:cxnLst/>
            <a:rect r="r" b="b" t="t" l="l"/>
            <a:pathLst>
              <a:path h="679586" w="2764419">
                <a:moveTo>
                  <a:pt x="0" y="0"/>
                </a:moveTo>
                <a:lnTo>
                  <a:pt x="2764419" y="0"/>
                </a:lnTo>
                <a:lnTo>
                  <a:pt x="2764419" y="679586"/>
                </a:lnTo>
                <a:lnTo>
                  <a:pt x="0" y="679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3212"/>
            <a:ext cx="6383231" cy="10290212"/>
          </a:xfrm>
          <a:custGeom>
            <a:avLst/>
            <a:gdLst/>
            <a:ahLst/>
            <a:cxnLst/>
            <a:rect r="r" b="b" t="t" l="l"/>
            <a:pathLst>
              <a:path h="10290212" w="6383231">
                <a:moveTo>
                  <a:pt x="0" y="0"/>
                </a:moveTo>
                <a:lnTo>
                  <a:pt x="6383231" y="0"/>
                </a:lnTo>
                <a:lnTo>
                  <a:pt x="6383231" y="10290212"/>
                </a:lnTo>
                <a:lnTo>
                  <a:pt x="0" y="10290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4000"/>
            </a:blip>
            <a:stretch>
              <a:fillRect l="0" t="0" r="-14196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0298" y="272123"/>
            <a:ext cx="1901876" cy="1303649"/>
          </a:xfrm>
          <a:custGeom>
            <a:avLst/>
            <a:gdLst/>
            <a:ahLst/>
            <a:cxnLst/>
            <a:rect r="r" b="b" t="t" l="l"/>
            <a:pathLst>
              <a:path h="1303649" w="1901876">
                <a:moveTo>
                  <a:pt x="0" y="0"/>
                </a:moveTo>
                <a:lnTo>
                  <a:pt x="1901875" y="0"/>
                </a:lnTo>
                <a:lnTo>
                  <a:pt x="1901875" y="1303650"/>
                </a:lnTo>
                <a:lnTo>
                  <a:pt x="0" y="1303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1436" y="272123"/>
            <a:ext cx="1901876" cy="1303649"/>
          </a:xfrm>
          <a:custGeom>
            <a:avLst/>
            <a:gdLst/>
            <a:ahLst/>
            <a:cxnLst/>
            <a:rect r="r" b="b" t="t" l="l"/>
            <a:pathLst>
              <a:path h="1303649" w="1901876">
                <a:moveTo>
                  <a:pt x="0" y="0"/>
                </a:moveTo>
                <a:lnTo>
                  <a:pt x="1901876" y="0"/>
                </a:lnTo>
                <a:lnTo>
                  <a:pt x="1901876" y="1303650"/>
                </a:lnTo>
                <a:lnTo>
                  <a:pt x="0" y="1303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010" y="479947"/>
            <a:ext cx="2571591" cy="888002"/>
          </a:xfrm>
          <a:custGeom>
            <a:avLst/>
            <a:gdLst/>
            <a:ahLst/>
            <a:cxnLst/>
            <a:rect r="r" b="b" t="t" l="l"/>
            <a:pathLst>
              <a:path h="888002" w="2571591">
                <a:moveTo>
                  <a:pt x="0" y="0"/>
                </a:moveTo>
                <a:lnTo>
                  <a:pt x="2571590" y="0"/>
                </a:lnTo>
                <a:lnTo>
                  <a:pt x="2571590" y="888002"/>
                </a:lnTo>
                <a:lnTo>
                  <a:pt x="0" y="8880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54676" y="3742767"/>
            <a:ext cx="10249216" cy="343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Un estudio realizado por la Universidad de Chile señala que, </a:t>
            </a:r>
            <a:r>
              <a:rPr lang="en-US" b="true" sz="2736" spc="32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a nivel nacional</a:t>
            </a: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b="true" sz="2736" spc="32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las personas que padecen de diabetes representan el 14%</a:t>
            </a: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 de la demografía de Chile (R. Gallardo, 2023). </a:t>
            </a: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Esto significa que </a:t>
            </a:r>
            <a:r>
              <a:rPr lang="en-US" b="true" sz="2736" spc="32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1 de cada 10 personas</a:t>
            </a: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 en </a:t>
            </a:r>
            <a:r>
              <a:rPr lang="en-US" b="true" sz="2736" spc="32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Chile </a:t>
            </a: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padecen de diabetes.</a:t>
            </a:r>
          </a:p>
          <a:p>
            <a:pPr algn="l">
              <a:lnSpc>
                <a:spcPts val="3420"/>
              </a:lnSpc>
            </a:pP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Cabe destacar que la </a:t>
            </a:r>
            <a:r>
              <a:rPr lang="en-US" b="true" sz="2736" spc="32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Federación Internacional de Diabetes</a:t>
            </a: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 indica que para el </a:t>
            </a:r>
            <a:r>
              <a:rPr lang="en-US" b="true" sz="2736" spc="32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2050 en la región SACA</a:t>
            </a: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 (América central y sur) aumentarán </a:t>
            </a:r>
            <a:r>
              <a:rPr lang="en-US" b="true" sz="2736" spc="32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los casos de diabetes a 52 millones</a:t>
            </a: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10084" y="578225"/>
            <a:ext cx="10249216" cy="3078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4"/>
              </a:lnSpc>
            </a:pPr>
            <a:r>
              <a:rPr lang="en-US" b="true" sz="15745">
                <a:solidFill>
                  <a:srgbClr val="DAF1D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CONTEXTUALIZACIÓN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676" y="7490555"/>
            <a:ext cx="10249216" cy="128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736" spc="32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El rango etario de los pacientes es muy amplio y se indica que se puede presentar a una edad muy temprana como a una más mayor (MedlinePlus, 2025).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5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19392" y="1871715"/>
            <a:ext cx="10249216" cy="645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5"/>
              </a:lnSpc>
            </a:pPr>
            <a:r>
              <a:rPr lang="en-US" b="true" sz="15745">
                <a:solidFill>
                  <a:srgbClr val="DAF1D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PIENSE EN LAS SIGUIENTES SITAUCIONES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76591" y="0"/>
            <a:ext cx="7743455" cy="10287000"/>
          </a:xfrm>
          <a:custGeom>
            <a:avLst/>
            <a:gdLst/>
            <a:ahLst/>
            <a:cxnLst/>
            <a:rect r="r" b="b" t="t" l="l"/>
            <a:pathLst>
              <a:path h="10287000" w="7743455">
                <a:moveTo>
                  <a:pt x="0" y="0"/>
                </a:moveTo>
                <a:lnTo>
                  <a:pt x="7743455" y="0"/>
                </a:lnTo>
                <a:lnTo>
                  <a:pt x="77434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1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47750"/>
            <a:ext cx="9127069" cy="299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5"/>
              </a:lnSpc>
            </a:pPr>
            <a:r>
              <a:rPr lang="en-US" sz="11156">
                <a:solidFill>
                  <a:srgbClr val="DAF1D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NUESTRA PROPUESTA: </a:t>
            </a:r>
            <a:r>
              <a:rPr lang="en-US" sz="11156" b="true">
                <a:solidFill>
                  <a:srgbClr val="DAF1D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VITALSY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83446"/>
            <a:ext cx="9941061" cy="143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b="true" sz="3062" spc="36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Plataforma Web/Móvil Centralizada</a:t>
            </a:r>
            <a:r>
              <a:rPr lang="en-US" sz="3062" spc="36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: </a:t>
            </a:r>
            <a:r>
              <a:rPr lang="en-US" sz="3062" spc="36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Un sistema robusto para el registro de glicemia, comidas y cálculo de insulina.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209395" y="1106805"/>
            <a:ext cx="181928" cy="234315"/>
            <a:chOff x="0" y="0"/>
            <a:chExt cx="242570" cy="3124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7611" y="47675"/>
              <a:ext cx="143315" cy="214189"/>
            </a:xfrm>
            <a:custGeom>
              <a:avLst/>
              <a:gdLst/>
              <a:ahLst/>
              <a:cxnLst/>
              <a:rect r="r" b="b" t="t" l="l"/>
              <a:pathLst>
                <a:path h="214189" w="143315">
                  <a:moveTo>
                    <a:pt x="112409" y="20905"/>
                  </a:moveTo>
                  <a:cubicBezTo>
                    <a:pt x="116219" y="126315"/>
                    <a:pt x="100979" y="163145"/>
                    <a:pt x="83199" y="182195"/>
                  </a:cubicBezTo>
                  <a:cubicBezTo>
                    <a:pt x="67959" y="198705"/>
                    <a:pt x="37479" y="216485"/>
                    <a:pt x="24779" y="213945"/>
                  </a:cubicBezTo>
                  <a:cubicBezTo>
                    <a:pt x="17159" y="211405"/>
                    <a:pt x="13349" y="199975"/>
                    <a:pt x="9539" y="188545"/>
                  </a:cubicBezTo>
                  <a:cubicBezTo>
                    <a:pt x="3189" y="168225"/>
                    <a:pt x="-4431" y="126315"/>
                    <a:pt x="3189" y="97105"/>
                  </a:cubicBezTo>
                  <a:cubicBezTo>
                    <a:pt x="12079" y="65355"/>
                    <a:pt x="41289" y="14555"/>
                    <a:pt x="65419" y="3125"/>
                  </a:cubicBezTo>
                  <a:cubicBezTo>
                    <a:pt x="83199" y="-4495"/>
                    <a:pt x="113679" y="3125"/>
                    <a:pt x="125109" y="12015"/>
                  </a:cubicBezTo>
                  <a:cubicBezTo>
                    <a:pt x="131459" y="17095"/>
                    <a:pt x="132729" y="25985"/>
                    <a:pt x="135269" y="36145"/>
                  </a:cubicBezTo>
                  <a:cubicBezTo>
                    <a:pt x="139079" y="51385"/>
                    <a:pt x="140349" y="79325"/>
                    <a:pt x="137809" y="98375"/>
                  </a:cubicBezTo>
                  <a:cubicBezTo>
                    <a:pt x="133999" y="116155"/>
                    <a:pt x="126379" y="137745"/>
                    <a:pt x="116219" y="146635"/>
                  </a:cubicBezTo>
                  <a:cubicBezTo>
                    <a:pt x="109869" y="154255"/>
                    <a:pt x="98439" y="159335"/>
                    <a:pt x="89549" y="158065"/>
                  </a:cubicBezTo>
                  <a:cubicBezTo>
                    <a:pt x="81929" y="156795"/>
                    <a:pt x="74309" y="146635"/>
                    <a:pt x="70499" y="136475"/>
                  </a:cubicBezTo>
                  <a:cubicBezTo>
                    <a:pt x="64149" y="119965"/>
                    <a:pt x="69229" y="83135"/>
                    <a:pt x="75579" y="61545"/>
                  </a:cubicBezTo>
                  <a:cubicBezTo>
                    <a:pt x="81929" y="42495"/>
                    <a:pt x="94629" y="17095"/>
                    <a:pt x="107329" y="12015"/>
                  </a:cubicBezTo>
                  <a:cubicBezTo>
                    <a:pt x="117489" y="9475"/>
                    <a:pt x="139079" y="18365"/>
                    <a:pt x="141619" y="25985"/>
                  </a:cubicBezTo>
                  <a:cubicBezTo>
                    <a:pt x="145429" y="34875"/>
                    <a:pt x="133999" y="56465"/>
                    <a:pt x="126379" y="60275"/>
                  </a:cubicBezTo>
                  <a:cubicBezTo>
                    <a:pt x="120029" y="62815"/>
                    <a:pt x="108599" y="60275"/>
                    <a:pt x="102249" y="55195"/>
                  </a:cubicBezTo>
                  <a:cubicBezTo>
                    <a:pt x="97169" y="51385"/>
                    <a:pt x="90819" y="41225"/>
                    <a:pt x="93359" y="33605"/>
                  </a:cubicBezTo>
                  <a:cubicBezTo>
                    <a:pt x="94629" y="25985"/>
                    <a:pt x="112409" y="10745"/>
                    <a:pt x="121299" y="10745"/>
                  </a:cubicBezTo>
                  <a:cubicBezTo>
                    <a:pt x="128919" y="10745"/>
                    <a:pt x="141619" y="22175"/>
                    <a:pt x="142889" y="32335"/>
                  </a:cubicBezTo>
                  <a:cubicBezTo>
                    <a:pt x="146699" y="46305"/>
                    <a:pt x="123839" y="70435"/>
                    <a:pt x="118759" y="89485"/>
                  </a:cubicBezTo>
                  <a:cubicBezTo>
                    <a:pt x="114949" y="108535"/>
                    <a:pt x="123839" y="136475"/>
                    <a:pt x="116219" y="146635"/>
                  </a:cubicBezTo>
                  <a:cubicBezTo>
                    <a:pt x="112409" y="154255"/>
                    <a:pt x="103519" y="158065"/>
                    <a:pt x="95899" y="158065"/>
                  </a:cubicBezTo>
                  <a:cubicBezTo>
                    <a:pt x="88279" y="158065"/>
                    <a:pt x="75579" y="150445"/>
                    <a:pt x="71769" y="142825"/>
                  </a:cubicBezTo>
                  <a:cubicBezTo>
                    <a:pt x="67959" y="131395"/>
                    <a:pt x="87009" y="104725"/>
                    <a:pt x="87009" y="90755"/>
                  </a:cubicBezTo>
                  <a:cubicBezTo>
                    <a:pt x="85739" y="79325"/>
                    <a:pt x="80659" y="61545"/>
                    <a:pt x="75579" y="61545"/>
                  </a:cubicBezTo>
                  <a:cubicBezTo>
                    <a:pt x="71769" y="61545"/>
                    <a:pt x="64149" y="78055"/>
                    <a:pt x="59069" y="90755"/>
                  </a:cubicBezTo>
                  <a:cubicBezTo>
                    <a:pt x="52719" y="111075"/>
                    <a:pt x="62879" y="165685"/>
                    <a:pt x="50179" y="177115"/>
                  </a:cubicBezTo>
                  <a:cubicBezTo>
                    <a:pt x="43829" y="184735"/>
                    <a:pt x="24779" y="184735"/>
                    <a:pt x="20969" y="179655"/>
                  </a:cubicBezTo>
                  <a:cubicBezTo>
                    <a:pt x="15889" y="170765"/>
                    <a:pt x="62879" y="125045"/>
                    <a:pt x="70499" y="97105"/>
                  </a:cubicBezTo>
                  <a:cubicBezTo>
                    <a:pt x="76849" y="70435"/>
                    <a:pt x="59069" y="29795"/>
                    <a:pt x="66689" y="15825"/>
                  </a:cubicBezTo>
                  <a:cubicBezTo>
                    <a:pt x="71769" y="8205"/>
                    <a:pt x="80659" y="4395"/>
                    <a:pt x="88279" y="4395"/>
                  </a:cubicBezTo>
                  <a:cubicBezTo>
                    <a:pt x="95899" y="4395"/>
                    <a:pt x="112409" y="20905"/>
                    <a:pt x="112409" y="20905"/>
                  </a:cubicBezTo>
                </a:path>
              </a:pathLst>
            </a:custGeom>
            <a:solidFill>
              <a:srgbClr val="D4EBD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231302" y="1043940"/>
            <a:ext cx="803910" cy="332422"/>
            <a:chOff x="0" y="0"/>
            <a:chExt cx="1071880" cy="443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168" y="56594"/>
              <a:ext cx="969949" cy="336486"/>
            </a:xfrm>
            <a:custGeom>
              <a:avLst/>
              <a:gdLst/>
              <a:ahLst/>
              <a:cxnLst/>
              <a:rect r="r" b="b" t="t" l="l"/>
              <a:pathLst>
                <a:path h="336486" w="969949">
                  <a:moveTo>
                    <a:pt x="151762" y="556"/>
                  </a:moveTo>
                  <a:cubicBezTo>
                    <a:pt x="511172" y="-1984"/>
                    <a:pt x="776602" y="3096"/>
                    <a:pt x="866772" y="38656"/>
                  </a:cubicBezTo>
                  <a:cubicBezTo>
                    <a:pt x="907412" y="53896"/>
                    <a:pt x="926462" y="71676"/>
                    <a:pt x="944242" y="97076"/>
                  </a:cubicBezTo>
                  <a:cubicBezTo>
                    <a:pt x="962022" y="122476"/>
                    <a:pt x="969642" y="164386"/>
                    <a:pt x="969642" y="191056"/>
                  </a:cubicBezTo>
                  <a:cubicBezTo>
                    <a:pt x="970912" y="210106"/>
                    <a:pt x="968372" y="222806"/>
                    <a:pt x="959482" y="239316"/>
                  </a:cubicBezTo>
                  <a:cubicBezTo>
                    <a:pt x="948052" y="262176"/>
                    <a:pt x="922652" y="297736"/>
                    <a:pt x="895982" y="312976"/>
                  </a:cubicBezTo>
                  <a:cubicBezTo>
                    <a:pt x="870582" y="329486"/>
                    <a:pt x="832482" y="337106"/>
                    <a:pt x="802002" y="334566"/>
                  </a:cubicBezTo>
                  <a:cubicBezTo>
                    <a:pt x="771522" y="330756"/>
                    <a:pt x="735962" y="314246"/>
                    <a:pt x="713102" y="292656"/>
                  </a:cubicBezTo>
                  <a:cubicBezTo>
                    <a:pt x="690242" y="272336"/>
                    <a:pt x="673732" y="232966"/>
                    <a:pt x="667382" y="207566"/>
                  </a:cubicBezTo>
                  <a:cubicBezTo>
                    <a:pt x="663572" y="188516"/>
                    <a:pt x="663572" y="175816"/>
                    <a:pt x="667382" y="158036"/>
                  </a:cubicBezTo>
                  <a:cubicBezTo>
                    <a:pt x="673732" y="132636"/>
                    <a:pt x="695322" y="91996"/>
                    <a:pt x="713102" y="71676"/>
                  </a:cubicBezTo>
                  <a:cubicBezTo>
                    <a:pt x="725802" y="57706"/>
                    <a:pt x="739772" y="51356"/>
                    <a:pt x="753742" y="43736"/>
                  </a:cubicBezTo>
                  <a:cubicBezTo>
                    <a:pt x="768982" y="37386"/>
                    <a:pt x="782952" y="31036"/>
                    <a:pt x="802002" y="31036"/>
                  </a:cubicBezTo>
                  <a:cubicBezTo>
                    <a:pt x="827402" y="29766"/>
                    <a:pt x="870582" y="36116"/>
                    <a:pt x="897252" y="52626"/>
                  </a:cubicBezTo>
                  <a:cubicBezTo>
                    <a:pt x="922652" y="67866"/>
                    <a:pt x="948052" y="97076"/>
                    <a:pt x="959482" y="126286"/>
                  </a:cubicBezTo>
                  <a:cubicBezTo>
                    <a:pt x="970912" y="154226"/>
                    <a:pt x="973452" y="193596"/>
                    <a:pt x="964562" y="222806"/>
                  </a:cubicBezTo>
                  <a:cubicBezTo>
                    <a:pt x="956942" y="253286"/>
                    <a:pt x="934082" y="285036"/>
                    <a:pt x="909952" y="304086"/>
                  </a:cubicBezTo>
                  <a:cubicBezTo>
                    <a:pt x="885822" y="323136"/>
                    <a:pt x="861692" y="329486"/>
                    <a:pt x="818512" y="334566"/>
                  </a:cubicBezTo>
                  <a:cubicBezTo>
                    <a:pt x="724532" y="345996"/>
                    <a:pt x="489582" y="302816"/>
                    <a:pt x="366392" y="299006"/>
                  </a:cubicBezTo>
                  <a:cubicBezTo>
                    <a:pt x="282572" y="296466"/>
                    <a:pt x="203832" y="310436"/>
                    <a:pt x="151762" y="305356"/>
                  </a:cubicBezTo>
                  <a:cubicBezTo>
                    <a:pt x="122552" y="301546"/>
                    <a:pt x="102232" y="299006"/>
                    <a:pt x="81912" y="287576"/>
                  </a:cubicBezTo>
                  <a:cubicBezTo>
                    <a:pt x="60322" y="276146"/>
                    <a:pt x="40002" y="260906"/>
                    <a:pt x="27302" y="239316"/>
                  </a:cubicBezTo>
                  <a:cubicBezTo>
                    <a:pt x="10792" y="212646"/>
                    <a:pt x="-3178" y="168196"/>
                    <a:pt x="632" y="133906"/>
                  </a:cubicBezTo>
                  <a:cubicBezTo>
                    <a:pt x="5712" y="100886"/>
                    <a:pt x="26032" y="60246"/>
                    <a:pt x="51432" y="38656"/>
                  </a:cubicBezTo>
                  <a:cubicBezTo>
                    <a:pt x="76832" y="15796"/>
                    <a:pt x="151762" y="556"/>
                    <a:pt x="151762" y="556"/>
                  </a:cubicBezTo>
                </a:path>
              </a:pathLst>
            </a:custGeom>
            <a:solidFill>
              <a:srgbClr val="D4EBD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186732" y="2884659"/>
            <a:ext cx="4237705" cy="702751"/>
            <a:chOff x="0" y="0"/>
            <a:chExt cx="2450658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50658" cy="406400"/>
            </a:xfrm>
            <a:custGeom>
              <a:avLst/>
              <a:gdLst/>
              <a:ahLst/>
              <a:cxnLst/>
              <a:rect r="r" b="b" t="t" l="l"/>
              <a:pathLst>
                <a:path h="406400" w="2450658">
                  <a:moveTo>
                    <a:pt x="2247458" y="0"/>
                  </a:moveTo>
                  <a:cubicBezTo>
                    <a:pt x="2359682" y="0"/>
                    <a:pt x="2450658" y="90976"/>
                    <a:pt x="2450658" y="203200"/>
                  </a:cubicBezTo>
                  <a:cubicBezTo>
                    <a:pt x="2450658" y="315424"/>
                    <a:pt x="2359682" y="406400"/>
                    <a:pt x="22474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4EB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450658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6151570"/>
            <a:ext cx="9941061" cy="143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b="true" sz="3062" spc="36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Inteligencia Artificial</a:t>
            </a:r>
            <a:r>
              <a:rPr lang="en-US" sz="3062" spc="36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: Implementació</a:t>
            </a:r>
            <a:r>
              <a:rPr lang="en-US" sz="3062" spc="36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n de modelos para la clasificación de riesgos y predicción de tendencias de glucosa.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819695"/>
            <a:ext cx="9941061" cy="143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b="true" sz="3062" spc="36">
                <a:solidFill>
                  <a:srgbClr val="DAF1DE"/>
                </a:solidFill>
                <a:latin typeface="Aileron Bold"/>
                <a:ea typeface="Aileron Bold"/>
                <a:cs typeface="Aileron Bold"/>
                <a:sym typeface="Aileron Bold"/>
              </a:rPr>
              <a:t>Automatización</a:t>
            </a:r>
            <a:r>
              <a:rPr lang="en-US" sz="3062" spc="36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: Generació</a:t>
            </a:r>
            <a:r>
              <a:rPr lang="en-US" sz="3062" spc="36">
                <a:solidFill>
                  <a:srgbClr val="DAF1DE"/>
                </a:solidFill>
                <a:latin typeface="Aileron"/>
                <a:ea typeface="Aileron"/>
                <a:cs typeface="Aileron"/>
                <a:sym typeface="Aileron"/>
              </a:rPr>
              <a:t>n de alertas inteligentes en tiempo real basadas en datos biométricos y de comportamiento.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4246"/>
            <a:ext cx="18288000" cy="10262754"/>
          </a:xfrm>
          <a:custGeom>
            <a:avLst/>
            <a:gdLst/>
            <a:ahLst/>
            <a:cxnLst/>
            <a:rect r="r" b="b" t="t" l="l"/>
            <a:pathLst>
              <a:path h="10262754" w="18288000">
                <a:moveTo>
                  <a:pt x="0" y="0"/>
                </a:moveTo>
                <a:lnTo>
                  <a:pt x="18288000" y="0"/>
                </a:lnTo>
                <a:lnTo>
                  <a:pt x="18288000" y="10262754"/>
                </a:lnTo>
                <a:lnTo>
                  <a:pt x="0" y="10262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7000"/>
            </a:blip>
            <a:stretch>
              <a:fillRect l="0" t="-33196" r="0" b="-3319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2571591" cy="888002"/>
          </a:xfrm>
          <a:custGeom>
            <a:avLst/>
            <a:gdLst/>
            <a:ahLst/>
            <a:cxnLst/>
            <a:rect r="r" b="b" t="t" l="l"/>
            <a:pathLst>
              <a:path h="888002" w="2571591">
                <a:moveTo>
                  <a:pt x="0" y="0"/>
                </a:moveTo>
                <a:lnTo>
                  <a:pt x="2571591" y="0"/>
                </a:lnTo>
                <a:lnTo>
                  <a:pt x="2571591" y="888002"/>
                </a:lnTo>
                <a:lnTo>
                  <a:pt x="0" y="888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94881" y="1046374"/>
            <a:ext cx="2764419" cy="679586"/>
          </a:xfrm>
          <a:custGeom>
            <a:avLst/>
            <a:gdLst/>
            <a:ahLst/>
            <a:cxnLst/>
            <a:rect r="r" b="b" t="t" l="l"/>
            <a:pathLst>
              <a:path h="679586" w="2764419">
                <a:moveTo>
                  <a:pt x="0" y="0"/>
                </a:moveTo>
                <a:lnTo>
                  <a:pt x="2764419" y="0"/>
                </a:lnTo>
                <a:lnTo>
                  <a:pt x="2764419" y="679586"/>
                </a:lnTo>
                <a:lnTo>
                  <a:pt x="0" y="679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46897" y="577775"/>
            <a:ext cx="9394206" cy="276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28"/>
              </a:lnSpc>
            </a:pPr>
            <a:r>
              <a:rPr lang="en-US" b="true" sz="10837">
                <a:solidFill>
                  <a:srgbClr val="051F2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ALCANCE Y LÍMITES DEL PROYECTO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346565"/>
            <a:ext cx="7711502" cy="5911735"/>
            <a:chOff x="0" y="0"/>
            <a:chExt cx="10282003" cy="788231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282003" cy="7882313"/>
              <a:chOff x="0" y="0"/>
              <a:chExt cx="2031013" cy="1557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031013" cy="1557000"/>
              </a:xfrm>
              <a:custGeom>
                <a:avLst/>
                <a:gdLst/>
                <a:ahLst/>
                <a:cxnLst/>
                <a:rect r="r" b="b" t="t" l="l"/>
                <a:pathLst>
                  <a:path h="1557000" w="2031013">
                    <a:moveTo>
                      <a:pt x="51201" y="0"/>
                    </a:moveTo>
                    <a:lnTo>
                      <a:pt x="1979812" y="0"/>
                    </a:lnTo>
                    <a:cubicBezTo>
                      <a:pt x="1993391" y="0"/>
                      <a:pt x="2006414" y="5394"/>
                      <a:pt x="2016016" y="14996"/>
                    </a:cubicBezTo>
                    <a:cubicBezTo>
                      <a:pt x="2025618" y="24599"/>
                      <a:pt x="2031013" y="37622"/>
                      <a:pt x="2031013" y="51201"/>
                    </a:cubicBezTo>
                    <a:lnTo>
                      <a:pt x="2031013" y="1505799"/>
                    </a:lnTo>
                    <a:cubicBezTo>
                      <a:pt x="2031013" y="1519378"/>
                      <a:pt x="2025618" y="1532402"/>
                      <a:pt x="2016016" y="1542004"/>
                    </a:cubicBezTo>
                    <a:cubicBezTo>
                      <a:pt x="2006414" y="1551606"/>
                      <a:pt x="1993391" y="1557000"/>
                      <a:pt x="1979812" y="1557000"/>
                    </a:cubicBezTo>
                    <a:lnTo>
                      <a:pt x="51201" y="1557000"/>
                    </a:lnTo>
                    <a:cubicBezTo>
                      <a:pt x="37622" y="1557000"/>
                      <a:pt x="24599" y="1551606"/>
                      <a:pt x="14996" y="1542004"/>
                    </a:cubicBezTo>
                    <a:cubicBezTo>
                      <a:pt x="5394" y="1532402"/>
                      <a:pt x="0" y="1519378"/>
                      <a:pt x="0" y="1505799"/>
                    </a:cubicBezTo>
                    <a:lnTo>
                      <a:pt x="0" y="51201"/>
                    </a:lnTo>
                    <a:cubicBezTo>
                      <a:pt x="0" y="37622"/>
                      <a:pt x="5394" y="24599"/>
                      <a:pt x="14996" y="14996"/>
                    </a:cubicBezTo>
                    <a:cubicBezTo>
                      <a:pt x="24599" y="5394"/>
                      <a:pt x="37622" y="0"/>
                      <a:pt x="51201" y="0"/>
                    </a:cubicBezTo>
                    <a:close/>
                  </a:path>
                </a:pathLst>
              </a:custGeom>
              <a:solidFill>
                <a:srgbClr val="8EB69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9525"/>
                <a:ext cx="2031013" cy="154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1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840497" y="640652"/>
              <a:ext cx="6601009" cy="6601009"/>
            </a:xfrm>
            <a:custGeom>
              <a:avLst/>
              <a:gdLst/>
              <a:ahLst/>
              <a:cxnLst/>
              <a:rect r="r" b="b" t="t" l="l"/>
              <a:pathLst>
                <a:path h="6601009" w="6601009">
                  <a:moveTo>
                    <a:pt x="0" y="0"/>
                  </a:moveTo>
                  <a:lnTo>
                    <a:pt x="6601009" y="0"/>
                  </a:lnTo>
                  <a:lnTo>
                    <a:pt x="6601009" y="6601009"/>
                  </a:lnTo>
                  <a:lnTo>
                    <a:pt x="0" y="6601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1840497" y="455271"/>
              <a:ext cx="6601009" cy="2057400"/>
              <a:chOff x="0" y="0"/>
              <a:chExt cx="1303903" cy="406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0390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303903">
                    <a:moveTo>
                      <a:pt x="1303903" y="0"/>
                    </a:moveTo>
                    <a:lnTo>
                      <a:pt x="0" y="0"/>
                    </a:lnTo>
                    <a:lnTo>
                      <a:pt x="101600" y="203200"/>
                    </a:lnTo>
                    <a:lnTo>
                      <a:pt x="0" y="406400"/>
                    </a:lnTo>
                    <a:lnTo>
                      <a:pt x="1303903" y="406400"/>
                    </a:lnTo>
                    <a:lnTo>
                      <a:pt x="1202303" y="203200"/>
                    </a:lnTo>
                    <a:lnTo>
                      <a:pt x="1303903" y="0"/>
                    </a:lnTo>
                    <a:close/>
                  </a:path>
                </a:pathLst>
              </a:custGeom>
              <a:solidFill>
                <a:srgbClr val="62946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88900" y="9525"/>
                <a:ext cx="1126103" cy="396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1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46883" y="2780678"/>
              <a:ext cx="9185094" cy="3888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34" indent="-331917" lvl="1">
                <a:lnSpc>
                  <a:spcPts val="3843"/>
                </a:lnSpc>
                <a:buFont typeface="Arial"/>
                <a:buChar char="•"/>
              </a:pPr>
              <a:r>
                <a:rPr lang="en-US" b="true" sz="3074" spc="36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Monitoreo Biométrico Inteligente</a:t>
              </a:r>
            </a:p>
            <a:p>
              <a:pPr algn="l" marL="663834" indent="-331917" lvl="1">
                <a:lnSpc>
                  <a:spcPts val="3843"/>
                </a:lnSpc>
                <a:buFont typeface="Arial"/>
                <a:buChar char="•"/>
              </a:pPr>
              <a:r>
                <a:rPr lang="en-US" b="true" sz="3074" spc="36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Calculadora de Insulina</a:t>
              </a:r>
            </a:p>
            <a:p>
              <a:pPr algn="l" marL="663834" indent="-331917" lvl="1">
                <a:lnSpc>
                  <a:spcPts val="3843"/>
                </a:lnSpc>
                <a:buFont typeface="Arial"/>
                <a:buChar char="•"/>
              </a:pPr>
              <a:r>
                <a:rPr lang="en-US" b="true" sz="3074" spc="36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Inteligencia Clínica con IA</a:t>
              </a:r>
            </a:p>
            <a:p>
              <a:pPr algn="l" marL="663834" indent="-331917" lvl="1">
                <a:lnSpc>
                  <a:spcPts val="3843"/>
                </a:lnSpc>
                <a:buFont typeface="Arial"/>
                <a:buChar char="•"/>
              </a:pPr>
              <a:r>
                <a:rPr lang="en-US" b="true" sz="3074" spc="36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Digitalización Activa</a:t>
              </a:r>
            </a:p>
            <a:p>
              <a:pPr algn="l" marL="663834" indent="-331917" lvl="1">
                <a:lnSpc>
                  <a:spcPts val="3843"/>
                </a:lnSpc>
                <a:buFont typeface="Arial"/>
                <a:buChar char="•"/>
              </a:pPr>
              <a:r>
                <a:rPr lang="en-US" b="true" sz="3074" spc="36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Reportabilidad y Alertas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360397" y="554190"/>
              <a:ext cx="5558065" cy="1897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28"/>
                </a:lnSpc>
              </a:pPr>
              <a:r>
                <a:rPr lang="en-US" b="true" sz="5550">
                  <a:solidFill>
                    <a:srgbClr val="051F2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DENTRO DE ALCANCE (¿QUÉ HACE VITALSY?)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47798" y="3346565"/>
            <a:ext cx="7711502" cy="5911735"/>
            <a:chOff x="0" y="0"/>
            <a:chExt cx="10282003" cy="788231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282003" cy="7882313"/>
              <a:chOff x="0" y="0"/>
              <a:chExt cx="2031013" cy="1557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31013" cy="1557000"/>
              </a:xfrm>
              <a:custGeom>
                <a:avLst/>
                <a:gdLst/>
                <a:ahLst/>
                <a:cxnLst/>
                <a:rect r="r" b="b" t="t" l="l"/>
                <a:pathLst>
                  <a:path h="1557000" w="2031013">
                    <a:moveTo>
                      <a:pt x="51201" y="0"/>
                    </a:moveTo>
                    <a:lnTo>
                      <a:pt x="1979812" y="0"/>
                    </a:lnTo>
                    <a:cubicBezTo>
                      <a:pt x="1993391" y="0"/>
                      <a:pt x="2006414" y="5394"/>
                      <a:pt x="2016016" y="14996"/>
                    </a:cubicBezTo>
                    <a:cubicBezTo>
                      <a:pt x="2025618" y="24599"/>
                      <a:pt x="2031013" y="37622"/>
                      <a:pt x="2031013" y="51201"/>
                    </a:cubicBezTo>
                    <a:lnTo>
                      <a:pt x="2031013" y="1505799"/>
                    </a:lnTo>
                    <a:cubicBezTo>
                      <a:pt x="2031013" y="1519378"/>
                      <a:pt x="2025618" y="1532402"/>
                      <a:pt x="2016016" y="1542004"/>
                    </a:cubicBezTo>
                    <a:cubicBezTo>
                      <a:pt x="2006414" y="1551606"/>
                      <a:pt x="1993391" y="1557000"/>
                      <a:pt x="1979812" y="1557000"/>
                    </a:cubicBezTo>
                    <a:lnTo>
                      <a:pt x="51201" y="1557000"/>
                    </a:lnTo>
                    <a:cubicBezTo>
                      <a:pt x="37622" y="1557000"/>
                      <a:pt x="24599" y="1551606"/>
                      <a:pt x="14996" y="1542004"/>
                    </a:cubicBezTo>
                    <a:cubicBezTo>
                      <a:pt x="5394" y="1532402"/>
                      <a:pt x="0" y="1519378"/>
                      <a:pt x="0" y="1505799"/>
                    </a:cubicBezTo>
                    <a:lnTo>
                      <a:pt x="0" y="51201"/>
                    </a:lnTo>
                    <a:cubicBezTo>
                      <a:pt x="0" y="37622"/>
                      <a:pt x="5394" y="24599"/>
                      <a:pt x="14996" y="14996"/>
                    </a:cubicBezTo>
                    <a:cubicBezTo>
                      <a:pt x="24599" y="5394"/>
                      <a:pt x="37622" y="0"/>
                      <a:pt x="51201" y="0"/>
                    </a:cubicBezTo>
                    <a:close/>
                  </a:path>
                </a:pathLst>
              </a:custGeom>
              <a:solidFill>
                <a:srgbClr val="CDB7B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9525"/>
                <a:ext cx="2031013" cy="154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1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798442" y="988566"/>
              <a:ext cx="6685119" cy="5749203"/>
            </a:xfrm>
            <a:custGeom>
              <a:avLst/>
              <a:gdLst/>
              <a:ahLst/>
              <a:cxnLst/>
              <a:rect r="r" b="b" t="t" l="l"/>
              <a:pathLst>
                <a:path h="5749203" w="6685119">
                  <a:moveTo>
                    <a:pt x="0" y="0"/>
                  </a:moveTo>
                  <a:lnTo>
                    <a:pt x="6685119" y="0"/>
                  </a:lnTo>
                  <a:lnTo>
                    <a:pt x="6685119" y="5749203"/>
                  </a:lnTo>
                  <a:lnTo>
                    <a:pt x="0" y="5749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570299" y="2582834"/>
              <a:ext cx="9141406" cy="4526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5921" indent="-332961" lvl="1">
                <a:lnSpc>
                  <a:spcPts val="3855"/>
                </a:lnSpc>
                <a:buFont typeface="Arial"/>
                <a:buChar char="•"/>
              </a:pPr>
              <a:r>
                <a:rPr lang="en-US" b="true" sz="3084" spc="37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Herramienta de Asistencia, NO de Diagnóstico</a:t>
              </a:r>
            </a:p>
            <a:p>
              <a:pPr algn="l" marL="665921" indent="-332961" lvl="1">
                <a:lnSpc>
                  <a:spcPts val="3855"/>
                </a:lnSpc>
                <a:buFont typeface="Arial"/>
                <a:buChar char="•"/>
              </a:pPr>
              <a:r>
                <a:rPr lang="en-US" b="true" sz="3084" spc="37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Dependencia de APIs de Terceros</a:t>
              </a:r>
            </a:p>
            <a:p>
              <a:pPr algn="l" marL="665921" indent="-332961" lvl="1">
                <a:lnSpc>
                  <a:spcPts val="3855"/>
                </a:lnSpc>
                <a:buFont typeface="Arial"/>
                <a:buChar char="•"/>
              </a:pPr>
              <a:r>
                <a:rPr lang="en-US" b="true" sz="3084" spc="37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Sin Integración con Hardware Cerrado</a:t>
              </a:r>
            </a:p>
            <a:p>
              <a:pPr algn="l" marL="665921" indent="-332961" lvl="1">
                <a:lnSpc>
                  <a:spcPts val="3855"/>
                </a:lnSpc>
                <a:buFont typeface="Arial"/>
                <a:buChar char="•"/>
              </a:pPr>
              <a:r>
                <a:rPr lang="en-US" b="true" sz="3084" spc="37">
                  <a:solidFill>
                    <a:srgbClr val="051F2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Limite a la diabetes tipo 1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570299" y="394452"/>
              <a:ext cx="9141406" cy="2057400"/>
              <a:chOff x="0" y="0"/>
              <a:chExt cx="1805710" cy="406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8057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805710">
                    <a:moveTo>
                      <a:pt x="1805710" y="0"/>
                    </a:moveTo>
                    <a:lnTo>
                      <a:pt x="0" y="0"/>
                    </a:lnTo>
                    <a:lnTo>
                      <a:pt x="101600" y="203200"/>
                    </a:lnTo>
                    <a:lnTo>
                      <a:pt x="0" y="406400"/>
                    </a:lnTo>
                    <a:lnTo>
                      <a:pt x="1805710" y="406400"/>
                    </a:lnTo>
                    <a:lnTo>
                      <a:pt x="1704110" y="203200"/>
                    </a:lnTo>
                    <a:lnTo>
                      <a:pt x="1805710" y="0"/>
                    </a:lnTo>
                    <a:close/>
                  </a:path>
                </a:pathLst>
              </a:custGeom>
              <a:solidFill>
                <a:srgbClr val="D6929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88900" y="9525"/>
                <a:ext cx="1627910" cy="396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1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558515" y="646880"/>
              <a:ext cx="7164972" cy="1712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66"/>
                </a:lnSpc>
              </a:pPr>
              <a:r>
                <a:rPr lang="en-US" b="true" sz="5018">
                  <a:solidFill>
                    <a:srgbClr val="051F2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LÍMITES DEL PROYECTO </a:t>
              </a:r>
            </a:p>
            <a:p>
              <a:pPr algn="ctr" marL="0" indent="0" lvl="0">
                <a:lnSpc>
                  <a:spcPts val="4366"/>
                </a:lnSpc>
              </a:pPr>
              <a:r>
                <a:rPr lang="en-US" b="true" sz="5018">
                  <a:solidFill>
                    <a:srgbClr val="051F20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(¿QUÉ ESTÁ FUERA DEL ALCANCE?)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2469"/>
            <a:ext cx="18288000" cy="10274531"/>
          </a:xfrm>
          <a:custGeom>
            <a:avLst/>
            <a:gdLst/>
            <a:ahLst/>
            <a:cxnLst/>
            <a:rect r="r" b="b" t="t" l="l"/>
            <a:pathLst>
              <a:path h="10274531" w="18288000">
                <a:moveTo>
                  <a:pt x="0" y="0"/>
                </a:moveTo>
                <a:lnTo>
                  <a:pt x="18288000" y="0"/>
                </a:lnTo>
                <a:lnTo>
                  <a:pt x="18288000" y="10274531"/>
                </a:lnTo>
                <a:lnTo>
                  <a:pt x="0" y="1027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166949"/>
            <a:ext cx="7711888" cy="3336755"/>
            <a:chOff x="0" y="0"/>
            <a:chExt cx="1768304" cy="765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304" cy="765104"/>
            </a:xfrm>
            <a:custGeom>
              <a:avLst/>
              <a:gdLst/>
              <a:ahLst/>
              <a:cxnLst/>
              <a:rect r="r" b="b" t="t" l="l"/>
              <a:pathLst>
                <a:path h="765104" w="1768304">
                  <a:moveTo>
                    <a:pt x="51199" y="0"/>
                  </a:moveTo>
                  <a:lnTo>
                    <a:pt x="1717106" y="0"/>
                  </a:lnTo>
                  <a:cubicBezTo>
                    <a:pt x="1730684" y="0"/>
                    <a:pt x="1743707" y="5394"/>
                    <a:pt x="1753308" y="14996"/>
                  </a:cubicBezTo>
                  <a:cubicBezTo>
                    <a:pt x="1762910" y="24597"/>
                    <a:pt x="1768304" y="37620"/>
                    <a:pt x="1768304" y="51199"/>
                  </a:cubicBezTo>
                  <a:lnTo>
                    <a:pt x="1768304" y="713906"/>
                  </a:lnTo>
                  <a:cubicBezTo>
                    <a:pt x="1768304" y="727484"/>
                    <a:pt x="1762910" y="740507"/>
                    <a:pt x="1753308" y="750109"/>
                  </a:cubicBezTo>
                  <a:cubicBezTo>
                    <a:pt x="1743707" y="759710"/>
                    <a:pt x="1730684" y="765104"/>
                    <a:pt x="1717106" y="765104"/>
                  </a:cubicBezTo>
                  <a:lnTo>
                    <a:pt x="51199" y="765104"/>
                  </a:lnTo>
                  <a:cubicBezTo>
                    <a:pt x="37620" y="765104"/>
                    <a:pt x="24597" y="759710"/>
                    <a:pt x="14996" y="750109"/>
                  </a:cubicBezTo>
                  <a:cubicBezTo>
                    <a:pt x="5394" y="740507"/>
                    <a:pt x="0" y="727484"/>
                    <a:pt x="0" y="713906"/>
                  </a:cubicBezTo>
                  <a:lnTo>
                    <a:pt x="0" y="51199"/>
                  </a:lnTo>
                  <a:cubicBezTo>
                    <a:pt x="0" y="37620"/>
                    <a:pt x="5394" y="24597"/>
                    <a:pt x="14996" y="14996"/>
                  </a:cubicBezTo>
                  <a:cubicBezTo>
                    <a:pt x="24597" y="5394"/>
                    <a:pt x="37620" y="0"/>
                    <a:pt x="51199" y="0"/>
                  </a:cubicBezTo>
                  <a:close/>
                </a:path>
              </a:pathLst>
            </a:custGeom>
            <a:solidFill>
              <a:srgbClr val="051F2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768304" cy="755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884705"/>
            <a:ext cx="7711888" cy="3333750"/>
            <a:chOff x="0" y="0"/>
            <a:chExt cx="1768304" cy="764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8304" cy="764415"/>
            </a:xfrm>
            <a:custGeom>
              <a:avLst/>
              <a:gdLst/>
              <a:ahLst/>
              <a:cxnLst/>
              <a:rect r="r" b="b" t="t" l="l"/>
              <a:pathLst>
                <a:path h="764415" w="1768304">
                  <a:moveTo>
                    <a:pt x="51199" y="0"/>
                  </a:moveTo>
                  <a:lnTo>
                    <a:pt x="1717106" y="0"/>
                  </a:lnTo>
                  <a:cubicBezTo>
                    <a:pt x="1730684" y="0"/>
                    <a:pt x="1743707" y="5394"/>
                    <a:pt x="1753308" y="14996"/>
                  </a:cubicBezTo>
                  <a:cubicBezTo>
                    <a:pt x="1762910" y="24597"/>
                    <a:pt x="1768304" y="37620"/>
                    <a:pt x="1768304" y="51199"/>
                  </a:cubicBezTo>
                  <a:lnTo>
                    <a:pt x="1768304" y="713217"/>
                  </a:lnTo>
                  <a:cubicBezTo>
                    <a:pt x="1768304" y="726795"/>
                    <a:pt x="1762910" y="739818"/>
                    <a:pt x="1753308" y="749419"/>
                  </a:cubicBezTo>
                  <a:cubicBezTo>
                    <a:pt x="1743707" y="759021"/>
                    <a:pt x="1730684" y="764415"/>
                    <a:pt x="1717106" y="764415"/>
                  </a:cubicBezTo>
                  <a:lnTo>
                    <a:pt x="51199" y="764415"/>
                  </a:lnTo>
                  <a:cubicBezTo>
                    <a:pt x="37620" y="764415"/>
                    <a:pt x="24597" y="759021"/>
                    <a:pt x="14996" y="749419"/>
                  </a:cubicBezTo>
                  <a:cubicBezTo>
                    <a:pt x="5394" y="739818"/>
                    <a:pt x="0" y="726795"/>
                    <a:pt x="0" y="713217"/>
                  </a:cubicBezTo>
                  <a:lnTo>
                    <a:pt x="0" y="51199"/>
                  </a:lnTo>
                  <a:cubicBezTo>
                    <a:pt x="0" y="37620"/>
                    <a:pt x="5394" y="24597"/>
                    <a:pt x="14996" y="14996"/>
                  </a:cubicBezTo>
                  <a:cubicBezTo>
                    <a:pt x="24597" y="5394"/>
                    <a:pt x="37620" y="0"/>
                    <a:pt x="51199" y="0"/>
                  </a:cubicBezTo>
                  <a:close/>
                </a:path>
              </a:pathLst>
            </a:custGeom>
            <a:solidFill>
              <a:srgbClr val="0A714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768304" cy="75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54272" y="5884705"/>
            <a:ext cx="8022606" cy="3373595"/>
            <a:chOff x="0" y="0"/>
            <a:chExt cx="1836785" cy="7723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6785" cy="772388"/>
            </a:xfrm>
            <a:custGeom>
              <a:avLst/>
              <a:gdLst/>
              <a:ahLst/>
              <a:cxnLst/>
              <a:rect r="r" b="b" t="t" l="l"/>
              <a:pathLst>
                <a:path h="772388" w="1836785">
                  <a:moveTo>
                    <a:pt x="49216" y="0"/>
                  </a:moveTo>
                  <a:lnTo>
                    <a:pt x="1787569" y="0"/>
                  </a:lnTo>
                  <a:cubicBezTo>
                    <a:pt x="1800622" y="0"/>
                    <a:pt x="1813140" y="5185"/>
                    <a:pt x="1822370" y="14415"/>
                  </a:cubicBezTo>
                  <a:cubicBezTo>
                    <a:pt x="1831599" y="23645"/>
                    <a:pt x="1836785" y="36163"/>
                    <a:pt x="1836785" y="49216"/>
                  </a:cubicBezTo>
                  <a:lnTo>
                    <a:pt x="1836785" y="723173"/>
                  </a:lnTo>
                  <a:cubicBezTo>
                    <a:pt x="1836785" y="750354"/>
                    <a:pt x="1814750" y="772388"/>
                    <a:pt x="1787569" y="772388"/>
                  </a:cubicBezTo>
                  <a:lnTo>
                    <a:pt x="49216" y="772388"/>
                  </a:lnTo>
                  <a:cubicBezTo>
                    <a:pt x="22035" y="772388"/>
                    <a:pt x="0" y="750354"/>
                    <a:pt x="0" y="723173"/>
                  </a:cubicBezTo>
                  <a:lnTo>
                    <a:pt x="0" y="49216"/>
                  </a:lnTo>
                  <a:cubicBezTo>
                    <a:pt x="0" y="22035"/>
                    <a:pt x="22035" y="0"/>
                    <a:pt x="49216" y="0"/>
                  </a:cubicBezTo>
                  <a:close/>
                </a:path>
              </a:pathLst>
            </a:custGeom>
            <a:solidFill>
              <a:srgbClr val="051F2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836785" cy="76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859541" y="3416250"/>
            <a:ext cx="1564765" cy="1564765"/>
          </a:xfrm>
          <a:custGeom>
            <a:avLst/>
            <a:gdLst/>
            <a:ahLst/>
            <a:cxnLst/>
            <a:rect r="r" b="b" t="t" l="l"/>
            <a:pathLst>
              <a:path h="1564765" w="1564765">
                <a:moveTo>
                  <a:pt x="0" y="0"/>
                </a:moveTo>
                <a:lnTo>
                  <a:pt x="1564765" y="0"/>
                </a:lnTo>
                <a:lnTo>
                  <a:pt x="1564765" y="1564765"/>
                </a:lnTo>
                <a:lnTo>
                  <a:pt x="0" y="1564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968425" y="3378532"/>
            <a:ext cx="1737936" cy="1737936"/>
          </a:xfrm>
          <a:custGeom>
            <a:avLst/>
            <a:gdLst/>
            <a:ahLst/>
            <a:cxnLst/>
            <a:rect r="r" b="b" t="t" l="l"/>
            <a:pathLst>
              <a:path h="1737936" w="1737936">
                <a:moveTo>
                  <a:pt x="0" y="0"/>
                </a:moveTo>
                <a:lnTo>
                  <a:pt x="1737936" y="0"/>
                </a:lnTo>
                <a:lnTo>
                  <a:pt x="1737936" y="1737936"/>
                </a:lnTo>
                <a:lnTo>
                  <a:pt x="0" y="1737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38492" y="7184024"/>
            <a:ext cx="1606863" cy="1658282"/>
          </a:xfrm>
          <a:custGeom>
            <a:avLst/>
            <a:gdLst/>
            <a:ahLst/>
            <a:cxnLst/>
            <a:rect r="r" b="b" t="t" l="l"/>
            <a:pathLst>
              <a:path h="1658282" w="1606863">
                <a:moveTo>
                  <a:pt x="0" y="0"/>
                </a:moveTo>
                <a:lnTo>
                  <a:pt x="1606863" y="0"/>
                </a:lnTo>
                <a:lnTo>
                  <a:pt x="1606863" y="1658282"/>
                </a:lnTo>
                <a:lnTo>
                  <a:pt x="0" y="16582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011572" y="7168631"/>
            <a:ext cx="1658282" cy="1658282"/>
          </a:xfrm>
          <a:custGeom>
            <a:avLst/>
            <a:gdLst/>
            <a:ahLst/>
            <a:cxnLst/>
            <a:rect r="r" b="b" t="t" l="l"/>
            <a:pathLst>
              <a:path h="1658282" w="1658282">
                <a:moveTo>
                  <a:pt x="0" y="0"/>
                </a:moveTo>
                <a:lnTo>
                  <a:pt x="1658282" y="0"/>
                </a:lnTo>
                <a:lnTo>
                  <a:pt x="1658282" y="1658282"/>
                </a:lnTo>
                <a:lnTo>
                  <a:pt x="0" y="16582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245653" y="7168631"/>
            <a:ext cx="1658282" cy="1658282"/>
          </a:xfrm>
          <a:custGeom>
            <a:avLst/>
            <a:gdLst/>
            <a:ahLst/>
            <a:cxnLst/>
            <a:rect r="r" b="b" t="t" l="l"/>
            <a:pathLst>
              <a:path h="1658282" w="1658282">
                <a:moveTo>
                  <a:pt x="0" y="0"/>
                </a:moveTo>
                <a:lnTo>
                  <a:pt x="1658282" y="0"/>
                </a:lnTo>
                <a:lnTo>
                  <a:pt x="1658282" y="1658282"/>
                </a:lnTo>
                <a:lnTo>
                  <a:pt x="0" y="16582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65910" y="7153237"/>
            <a:ext cx="1673676" cy="1673676"/>
          </a:xfrm>
          <a:custGeom>
            <a:avLst/>
            <a:gdLst/>
            <a:ahLst/>
            <a:cxnLst/>
            <a:rect r="r" b="b" t="t" l="l"/>
            <a:pathLst>
              <a:path h="1673676" w="1673676">
                <a:moveTo>
                  <a:pt x="0" y="0"/>
                </a:moveTo>
                <a:lnTo>
                  <a:pt x="1673676" y="0"/>
                </a:lnTo>
                <a:lnTo>
                  <a:pt x="1673676" y="1673676"/>
                </a:lnTo>
                <a:lnTo>
                  <a:pt x="0" y="16736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154272" y="2166949"/>
            <a:ext cx="8105028" cy="3336755"/>
            <a:chOff x="0" y="0"/>
            <a:chExt cx="1886711" cy="7767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86711" cy="776739"/>
            </a:xfrm>
            <a:custGeom>
              <a:avLst/>
              <a:gdLst/>
              <a:ahLst/>
              <a:cxnLst/>
              <a:rect r="r" b="b" t="t" l="l"/>
              <a:pathLst>
                <a:path h="776739" w="1886711">
                  <a:moveTo>
                    <a:pt x="48715" y="0"/>
                  </a:moveTo>
                  <a:lnTo>
                    <a:pt x="1837995" y="0"/>
                  </a:lnTo>
                  <a:cubicBezTo>
                    <a:pt x="1850916" y="0"/>
                    <a:pt x="1863306" y="5132"/>
                    <a:pt x="1872442" y="14268"/>
                  </a:cubicBezTo>
                  <a:cubicBezTo>
                    <a:pt x="1881578" y="23404"/>
                    <a:pt x="1886711" y="35795"/>
                    <a:pt x="1886711" y="48715"/>
                  </a:cubicBezTo>
                  <a:lnTo>
                    <a:pt x="1886711" y="728024"/>
                  </a:lnTo>
                  <a:cubicBezTo>
                    <a:pt x="1886711" y="740944"/>
                    <a:pt x="1881578" y="753335"/>
                    <a:pt x="1872442" y="762471"/>
                  </a:cubicBezTo>
                  <a:cubicBezTo>
                    <a:pt x="1863306" y="771607"/>
                    <a:pt x="1850916" y="776739"/>
                    <a:pt x="1837995" y="776739"/>
                  </a:cubicBezTo>
                  <a:lnTo>
                    <a:pt x="48715" y="776739"/>
                  </a:lnTo>
                  <a:cubicBezTo>
                    <a:pt x="35795" y="776739"/>
                    <a:pt x="23404" y="771607"/>
                    <a:pt x="14268" y="762471"/>
                  </a:cubicBezTo>
                  <a:cubicBezTo>
                    <a:pt x="5132" y="753335"/>
                    <a:pt x="0" y="740944"/>
                    <a:pt x="0" y="728024"/>
                  </a:cubicBezTo>
                  <a:lnTo>
                    <a:pt x="0" y="48715"/>
                  </a:lnTo>
                  <a:cubicBezTo>
                    <a:pt x="0" y="35795"/>
                    <a:pt x="5132" y="23404"/>
                    <a:pt x="14268" y="14268"/>
                  </a:cubicBezTo>
                  <a:cubicBezTo>
                    <a:pt x="23404" y="5132"/>
                    <a:pt x="35795" y="0"/>
                    <a:pt x="48715" y="0"/>
                  </a:cubicBezTo>
                  <a:close/>
                </a:path>
              </a:pathLst>
            </a:custGeom>
            <a:solidFill>
              <a:srgbClr val="0A714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886711" cy="767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1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988345" y="3309185"/>
            <a:ext cx="1778894" cy="1778894"/>
          </a:xfrm>
          <a:custGeom>
            <a:avLst/>
            <a:gdLst/>
            <a:ahLst/>
            <a:cxnLst/>
            <a:rect r="r" b="b" t="t" l="l"/>
            <a:pathLst>
              <a:path h="1778894" w="1778894">
                <a:moveTo>
                  <a:pt x="0" y="0"/>
                </a:moveTo>
                <a:lnTo>
                  <a:pt x="1778894" y="0"/>
                </a:lnTo>
                <a:lnTo>
                  <a:pt x="1778894" y="1778894"/>
                </a:lnTo>
                <a:lnTo>
                  <a:pt x="0" y="17788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195864" y="3305508"/>
            <a:ext cx="1885457" cy="1883984"/>
          </a:xfrm>
          <a:custGeom>
            <a:avLst/>
            <a:gdLst/>
            <a:ahLst/>
            <a:cxnLst/>
            <a:rect r="r" b="b" t="t" l="l"/>
            <a:pathLst>
              <a:path h="1883984" w="1885457">
                <a:moveTo>
                  <a:pt x="0" y="0"/>
                </a:moveTo>
                <a:lnTo>
                  <a:pt x="1885457" y="0"/>
                </a:lnTo>
                <a:lnTo>
                  <a:pt x="1885457" y="1883984"/>
                </a:lnTo>
                <a:lnTo>
                  <a:pt x="0" y="18839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8700" y="1028700"/>
            <a:ext cx="2571591" cy="888002"/>
          </a:xfrm>
          <a:custGeom>
            <a:avLst/>
            <a:gdLst/>
            <a:ahLst/>
            <a:cxnLst/>
            <a:rect r="r" b="b" t="t" l="l"/>
            <a:pathLst>
              <a:path h="888002" w="2571591">
                <a:moveTo>
                  <a:pt x="0" y="0"/>
                </a:moveTo>
                <a:lnTo>
                  <a:pt x="2571591" y="0"/>
                </a:lnTo>
                <a:lnTo>
                  <a:pt x="2571591" y="888002"/>
                </a:lnTo>
                <a:lnTo>
                  <a:pt x="0" y="8880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494881" y="1046374"/>
            <a:ext cx="2764419" cy="679586"/>
          </a:xfrm>
          <a:custGeom>
            <a:avLst/>
            <a:gdLst/>
            <a:ahLst/>
            <a:cxnLst/>
            <a:rect r="r" b="b" t="t" l="l"/>
            <a:pathLst>
              <a:path h="679586" w="2764419">
                <a:moveTo>
                  <a:pt x="0" y="0"/>
                </a:moveTo>
                <a:lnTo>
                  <a:pt x="2764419" y="0"/>
                </a:lnTo>
                <a:lnTo>
                  <a:pt x="2764419" y="679586"/>
                </a:lnTo>
                <a:lnTo>
                  <a:pt x="0" y="6795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978041" y="3512777"/>
            <a:ext cx="2244107" cy="1371710"/>
          </a:xfrm>
          <a:custGeom>
            <a:avLst/>
            <a:gdLst/>
            <a:ahLst/>
            <a:cxnLst/>
            <a:rect r="r" b="b" t="t" l="l"/>
            <a:pathLst>
              <a:path h="1371710" w="2244107">
                <a:moveTo>
                  <a:pt x="0" y="0"/>
                </a:moveTo>
                <a:lnTo>
                  <a:pt x="2244107" y="0"/>
                </a:lnTo>
                <a:lnTo>
                  <a:pt x="2244107" y="1371710"/>
                </a:lnTo>
                <a:lnTo>
                  <a:pt x="0" y="137171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565504" y="3263536"/>
            <a:ext cx="1482258" cy="1870193"/>
          </a:xfrm>
          <a:custGeom>
            <a:avLst/>
            <a:gdLst/>
            <a:ahLst/>
            <a:cxnLst/>
            <a:rect r="r" b="b" t="t" l="l"/>
            <a:pathLst>
              <a:path h="1870193" w="1482258">
                <a:moveTo>
                  <a:pt x="0" y="0"/>
                </a:moveTo>
                <a:lnTo>
                  <a:pt x="1482258" y="0"/>
                </a:lnTo>
                <a:lnTo>
                  <a:pt x="1482258" y="1870193"/>
                </a:lnTo>
                <a:lnTo>
                  <a:pt x="0" y="187019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236071" y="7168631"/>
            <a:ext cx="1673676" cy="1673676"/>
          </a:xfrm>
          <a:custGeom>
            <a:avLst/>
            <a:gdLst/>
            <a:ahLst/>
            <a:cxnLst/>
            <a:rect r="r" b="b" t="t" l="l"/>
            <a:pathLst>
              <a:path h="1673676" w="1673676">
                <a:moveTo>
                  <a:pt x="0" y="0"/>
                </a:moveTo>
                <a:lnTo>
                  <a:pt x="1673676" y="0"/>
                </a:lnTo>
                <a:lnTo>
                  <a:pt x="1673676" y="1673675"/>
                </a:lnTo>
                <a:lnTo>
                  <a:pt x="0" y="16736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384065" y="392763"/>
            <a:ext cx="7519871" cy="158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8"/>
              </a:lnSpc>
            </a:pPr>
            <a:r>
              <a:rPr lang="en-US" b="true" sz="10825">
                <a:solidFill>
                  <a:srgbClr val="051F2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TECNOLOGIAS USADAS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50872" y="2391850"/>
            <a:ext cx="5067545" cy="79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7"/>
              </a:lnSpc>
            </a:pPr>
            <a:r>
              <a:rPr lang="en-US" b="true" sz="5468">
                <a:solidFill>
                  <a:srgbClr val="DAF1D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1. FRONTEND &amp; CLIENT MOBILE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69193" y="6183079"/>
            <a:ext cx="4430901" cy="79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7"/>
              </a:lnSpc>
            </a:pPr>
            <a:r>
              <a:rPr lang="en-US" b="true" sz="5468">
                <a:solidFill>
                  <a:srgbClr val="DAF1D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 BASE DE DATOS &amp; NUBE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14212" y="6181824"/>
            <a:ext cx="3185148" cy="79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5"/>
              </a:lnSpc>
            </a:pPr>
            <a:r>
              <a:rPr lang="en-US" b="true" sz="5477">
                <a:solidFill>
                  <a:srgbClr val="DAF1D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4. IA &amp; SEGURIDAD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29005" y="2323038"/>
            <a:ext cx="4991638" cy="78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6"/>
              </a:lnSpc>
            </a:pPr>
            <a:r>
              <a:rPr lang="en-US" b="true" sz="5386">
                <a:solidFill>
                  <a:srgbClr val="DAF1D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2. BACKEND CORE (API REST)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094" y="244906"/>
            <a:ext cx="2571591" cy="888002"/>
          </a:xfrm>
          <a:custGeom>
            <a:avLst/>
            <a:gdLst/>
            <a:ahLst/>
            <a:cxnLst/>
            <a:rect r="r" b="b" t="t" l="l"/>
            <a:pathLst>
              <a:path h="888002" w="2571591">
                <a:moveTo>
                  <a:pt x="0" y="0"/>
                </a:moveTo>
                <a:lnTo>
                  <a:pt x="2571591" y="0"/>
                </a:lnTo>
                <a:lnTo>
                  <a:pt x="2571591" y="888002"/>
                </a:lnTo>
                <a:lnTo>
                  <a:pt x="0" y="88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95818" y="349114"/>
            <a:ext cx="2764419" cy="679586"/>
          </a:xfrm>
          <a:custGeom>
            <a:avLst/>
            <a:gdLst/>
            <a:ahLst/>
            <a:cxnLst/>
            <a:rect r="r" b="b" t="t" l="l"/>
            <a:pathLst>
              <a:path h="679586" w="2764419">
                <a:moveTo>
                  <a:pt x="0" y="0"/>
                </a:moveTo>
                <a:lnTo>
                  <a:pt x="2764418" y="0"/>
                </a:lnTo>
                <a:lnTo>
                  <a:pt x="2764418" y="679586"/>
                </a:lnTo>
                <a:lnTo>
                  <a:pt x="0" y="67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21805" t="0" r="22161" b="0"/>
          <a:stretch>
            <a:fillRect/>
          </a:stretch>
        </p:blipFill>
        <p:spPr>
          <a:xfrm flipH="false" flipV="false" rot="0">
            <a:off x="3299235" y="-723995"/>
            <a:ext cx="11689530" cy="117349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3313" y="584699"/>
            <a:ext cx="2571591" cy="888002"/>
          </a:xfrm>
          <a:custGeom>
            <a:avLst/>
            <a:gdLst/>
            <a:ahLst/>
            <a:cxnLst/>
            <a:rect r="r" b="b" t="t" l="l"/>
            <a:pathLst>
              <a:path h="888002" w="2571591">
                <a:moveTo>
                  <a:pt x="0" y="0"/>
                </a:moveTo>
                <a:lnTo>
                  <a:pt x="2571590" y="0"/>
                </a:lnTo>
                <a:lnTo>
                  <a:pt x="2571590" y="888002"/>
                </a:lnTo>
                <a:lnTo>
                  <a:pt x="0" y="88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34361" y="688907"/>
            <a:ext cx="2764419" cy="679586"/>
          </a:xfrm>
          <a:custGeom>
            <a:avLst/>
            <a:gdLst/>
            <a:ahLst/>
            <a:cxnLst/>
            <a:rect r="r" b="b" t="t" l="l"/>
            <a:pathLst>
              <a:path h="679586" w="2764419">
                <a:moveTo>
                  <a:pt x="0" y="0"/>
                </a:moveTo>
                <a:lnTo>
                  <a:pt x="2764419" y="0"/>
                </a:lnTo>
                <a:lnTo>
                  <a:pt x="2764419" y="679586"/>
                </a:lnTo>
                <a:lnTo>
                  <a:pt x="0" y="67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14903" y="1472701"/>
            <a:ext cx="5596836" cy="7785599"/>
          </a:xfrm>
          <a:custGeom>
            <a:avLst/>
            <a:gdLst/>
            <a:ahLst/>
            <a:cxnLst/>
            <a:rect r="r" b="b" t="t" l="l"/>
            <a:pathLst>
              <a:path h="7785599" w="5596836">
                <a:moveTo>
                  <a:pt x="0" y="0"/>
                </a:moveTo>
                <a:lnTo>
                  <a:pt x="5596837" y="0"/>
                </a:lnTo>
                <a:lnTo>
                  <a:pt x="5596837" y="7785599"/>
                </a:lnTo>
                <a:lnTo>
                  <a:pt x="0" y="7785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472701"/>
            <a:ext cx="5551122" cy="7785599"/>
          </a:xfrm>
          <a:custGeom>
            <a:avLst/>
            <a:gdLst/>
            <a:ahLst/>
            <a:cxnLst/>
            <a:rect r="r" b="b" t="t" l="l"/>
            <a:pathLst>
              <a:path h="7785599" w="5551122">
                <a:moveTo>
                  <a:pt x="0" y="0"/>
                </a:moveTo>
                <a:lnTo>
                  <a:pt x="5551122" y="0"/>
                </a:lnTo>
                <a:lnTo>
                  <a:pt x="5551122" y="7785599"/>
                </a:lnTo>
                <a:lnTo>
                  <a:pt x="0" y="77855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3313" y="584699"/>
            <a:ext cx="2571591" cy="888002"/>
          </a:xfrm>
          <a:custGeom>
            <a:avLst/>
            <a:gdLst/>
            <a:ahLst/>
            <a:cxnLst/>
            <a:rect r="r" b="b" t="t" l="l"/>
            <a:pathLst>
              <a:path h="888002" w="2571591">
                <a:moveTo>
                  <a:pt x="0" y="0"/>
                </a:moveTo>
                <a:lnTo>
                  <a:pt x="2571590" y="0"/>
                </a:lnTo>
                <a:lnTo>
                  <a:pt x="2571590" y="888002"/>
                </a:lnTo>
                <a:lnTo>
                  <a:pt x="0" y="88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34361" y="688907"/>
            <a:ext cx="2764419" cy="679586"/>
          </a:xfrm>
          <a:custGeom>
            <a:avLst/>
            <a:gdLst/>
            <a:ahLst/>
            <a:cxnLst/>
            <a:rect r="r" b="b" t="t" l="l"/>
            <a:pathLst>
              <a:path h="679586" w="2764419">
                <a:moveTo>
                  <a:pt x="0" y="0"/>
                </a:moveTo>
                <a:lnTo>
                  <a:pt x="2764419" y="0"/>
                </a:lnTo>
                <a:lnTo>
                  <a:pt x="2764419" y="679586"/>
                </a:lnTo>
                <a:lnTo>
                  <a:pt x="0" y="67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14241" y="1028700"/>
            <a:ext cx="5796882" cy="8229600"/>
          </a:xfrm>
          <a:custGeom>
            <a:avLst/>
            <a:gdLst/>
            <a:ahLst/>
            <a:cxnLst/>
            <a:rect r="r" b="b" t="t" l="l"/>
            <a:pathLst>
              <a:path h="8229600" w="5796882">
                <a:moveTo>
                  <a:pt x="0" y="0"/>
                </a:moveTo>
                <a:lnTo>
                  <a:pt x="5796882" y="0"/>
                </a:lnTo>
                <a:lnTo>
                  <a:pt x="579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17030" y="1028700"/>
            <a:ext cx="5809129" cy="8229600"/>
          </a:xfrm>
          <a:custGeom>
            <a:avLst/>
            <a:gdLst/>
            <a:ahLst/>
            <a:cxnLst/>
            <a:rect r="r" b="b" t="t" l="l"/>
            <a:pathLst>
              <a:path h="8229600" w="5809129">
                <a:moveTo>
                  <a:pt x="0" y="0"/>
                </a:moveTo>
                <a:lnTo>
                  <a:pt x="5809129" y="0"/>
                </a:lnTo>
                <a:lnTo>
                  <a:pt x="580912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B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876425"/>
            <a:ext cx="16925618" cy="8391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19"/>
              </a:lnSpc>
            </a:pPr>
            <a:r>
              <a:rPr lang="en-US" b="true" sz="42871">
                <a:solidFill>
                  <a:srgbClr val="0A714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86414" y="3519953"/>
            <a:ext cx="19687538" cy="9267502"/>
          </a:xfrm>
          <a:custGeom>
            <a:avLst/>
            <a:gdLst/>
            <a:ahLst/>
            <a:cxnLst/>
            <a:rect r="r" b="b" t="t" l="l"/>
            <a:pathLst>
              <a:path h="9267502" w="19687538">
                <a:moveTo>
                  <a:pt x="0" y="0"/>
                </a:moveTo>
                <a:lnTo>
                  <a:pt x="19687538" y="0"/>
                </a:lnTo>
                <a:lnTo>
                  <a:pt x="19687538" y="9267503"/>
                </a:lnTo>
                <a:lnTo>
                  <a:pt x="0" y="9267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535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DAHNDsE7JeI</dc:identifier>
  <dcterms:modified xsi:type="dcterms:W3CDTF">2011-08-01T06:04:30Z</dcterms:modified>
  <cp:revision>1</cp:revision>
  <dc:title>Vitalsy: defensa 3</dc:title>
</cp:coreProperties>
</file>